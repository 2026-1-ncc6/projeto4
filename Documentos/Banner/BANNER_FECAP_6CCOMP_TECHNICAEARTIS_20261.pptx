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3398500" cy="20104100"/>
  <p:notesSz cx="13398500" cy="20104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363" y="6232271"/>
            <a:ext cx="1139412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0727" y="11258296"/>
            <a:ext cx="938339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70242" y="4623943"/>
            <a:ext cx="583111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903497" y="4623943"/>
            <a:ext cx="583111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4178354"/>
            <a:ext cx="13402944" cy="2938780"/>
          </a:xfrm>
          <a:custGeom>
            <a:avLst/>
            <a:gdLst/>
            <a:ahLst/>
            <a:cxnLst/>
            <a:rect l="l" t="t" r="r" b="b"/>
            <a:pathLst>
              <a:path w="13402944" h="2938780">
                <a:moveTo>
                  <a:pt x="0" y="2938496"/>
                </a:moveTo>
                <a:lnTo>
                  <a:pt x="13402732" y="2938496"/>
                </a:lnTo>
                <a:lnTo>
                  <a:pt x="13402732" y="0"/>
                </a:lnTo>
                <a:lnTo>
                  <a:pt x="0" y="0"/>
                </a:lnTo>
                <a:lnTo>
                  <a:pt x="0" y="2938496"/>
                </a:lnTo>
                <a:close/>
              </a:path>
            </a:pathLst>
          </a:custGeom>
          <a:solidFill>
            <a:srgbClr val="044F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7945657"/>
            <a:ext cx="13402944" cy="2159000"/>
          </a:xfrm>
          <a:custGeom>
            <a:avLst/>
            <a:gdLst/>
            <a:ahLst/>
            <a:cxnLst/>
            <a:rect l="l" t="t" r="r" b="b"/>
            <a:pathLst>
              <a:path w="13402944" h="2159000">
                <a:moveTo>
                  <a:pt x="0" y="2158442"/>
                </a:moveTo>
                <a:lnTo>
                  <a:pt x="13402733" y="2158442"/>
                </a:lnTo>
                <a:lnTo>
                  <a:pt x="13402733" y="0"/>
                </a:lnTo>
                <a:lnTo>
                  <a:pt x="0" y="0"/>
                </a:lnTo>
                <a:lnTo>
                  <a:pt x="0" y="2158442"/>
                </a:lnTo>
                <a:close/>
              </a:path>
            </a:pathLst>
          </a:custGeom>
          <a:solidFill>
            <a:srgbClr val="0FE68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71464" y="16208266"/>
            <a:ext cx="10597200" cy="3895831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14178354"/>
            <a:ext cx="13402944" cy="3767454"/>
          </a:xfrm>
          <a:custGeom>
            <a:avLst/>
            <a:gdLst/>
            <a:ahLst/>
            <a:cxnLst/>
            <a:rect l="l" t="t" r="r" b="b"/>
            <a:pathLst>
              <a:path w="13402944" h="3767455">
                <a:moveTo>
                  <a:pt x="0" y="3767302"/>
                </a:moveTo>
                <a:lnTo>
                  <a:pt x="13402733" y="3767302"/>
                </a:lnTo>
                <a:lnTo>
                  <a:pt x="13402733" y="0"/>
                </a:lnTo>
                <a:lnTo>
                  <a:pt x="0" y="0"/>
                </a:lnTo>
                <a:lnTo>
                  <a:pt x="0" y="3767302"/>
                </a:lnTo>
                <a:close/>
              </a:path>
            </a:pathLst>
          </a:custGeom>
          <a:solidFill>
            <a:srgbClr val="044F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0" y="11137919"/>
            <a:ext cx="13402944" cy="3041015"/>
          </a:xfrm>
          <a:custGeom>
            <a:avLst/>
            <a:gdLst/>
            <a:ahLst/>
            <a:cxnLst/>
            <a:rect l="l" t="t" r="r" b="b"/>
            <a:pathLst>
              <a:path w="13402944" h="3041015">
                <a:moveTo>
                  <a:pt x="0" y="3040434"/>
                </a:moveTo>
                <a:lnTo>
                  <a:pt x="13402733" y="3040434"/>
                </a:lnTo>
                <a:lnTo>
                  <a:pt x="13402733" y="0"/>
                </a:lnTo>
                <a:lnTo>
                  <a:pt x="0" y="0"/>
                </a:lnTo>
                <a:lnTo>
                  <a:pt x="0" y="3040434"/>
                </a:lnTo>
                <a:close/>
              </a:path>
            </a:pathLst>
          </a:custGeom>
          <a:solidFill>
            <a:srgbClr val="0133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0" y="7476997"/>
            <a:ext cx="13402944" cy="3661410"/>
          </a:xfrm>
          <a:custGeom>
            <a:avLst/>
            <a:gdLst/>
            <a:ahLst/>
            <a:cxnLst/>
            <a:rect l="l" t="t" r="r" b="b"/>
            <a:pathLst>
              <a:path w="13402944" h="3661409">
                <a:moveTo>
                  <a:pt x="7113549" y="0"/>
                </a:moveTo>
                <a:lnTo>
                  <a:pt x="0" y="0"/>
                </a:lnTo>
                <a:lnTo>
                  <a:pt x="0" y="3660927"/>
                </a:lnTo>
                <a:lnTo>
                  <a:pt x="7113549" y="3660927"/>
                </a:lnTo>
                <a:lnTo>
                  <a:pt x="7113549" y="0"/>
                </a:lnTo>
                <a:close/>
              </a:path>
              <a:path w="13402944" h="3661409">
                <a:moveTo>
                  <a:pt x="13402729" y="0"/>
                </a:moveTo>
                <a:lnTo>
                  <a:pt x="12950647" y="0"/>
                </a:lnTo>
                <a:lnTo>
                  <a:pt x="12950647" y="3660927"/>
                </a:lnTo>
                <a:lnTo>
                  <a:pt x="13402729" y="3660927"/>
                </a:lnTo>
                <a:lnTo>
                  <a:pt x="13402729" y="0"/>
                </a:lnTo>
                <a:close/>
              </a:path>
            </a:pathLst>
          </a:custGeom>
          <a:solidFill>
            <a:srgbClr val="0A9E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0" y="3944587"/>
            <a:ext cx="13402944" cy="3536950"/>
          </a:xfrm>
          <a:custGeom>
            <a:avLst/>
            <a:gdLst/>
            <a:ahLst/>
            <a:cxnLst/>
            <a:rect l="l" t="t" r="r" b="b"/>
            <a:pathLst>
              <a:path w="13402944" h="3536950">
                <a:moveTo>
                  <a:pt x="0" y="3536832"/>
                </a:moveTo>
                <a:lnTo>
                  <a:pt x="13402733" y="3536832"/>
                </a:lnTo>
                <a:lnTo>
                  <a:pt x="13402733" y="0"/>
                </a:lnTo>
                <a:lnTo>
                  <a:pt x="0" y="0"/>
                </a:lnTo>
                <a:lnTo>
                  <a:pt x="0" y="3536832"/>
                </a:lnTo>
                <a:close/>
              </a:path>
            </a:pathLst>
          </a:custGeom>
          <a:solidFill>
            <a:srgbClr val="0773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0" y="0"/>
            <a:ext cx="13402944" cy="3944620"/>
          </a:xfrm>
          <a:custGeom>
            <a:avLst/>
            <a:gdLst/>
            <a:ahLst/>
            <a:cxnLst/>
            <a:rect l="l" t="t" r="r" b="b"/>
            <a:pathLst>
              <a:path w="13402944" h="3944620">
                <a:moveTo>
                  <a:pt x="0" y="3944588"/>
                </a:moveTo>
                <a:lnTo>
                  <a:pt x="13402733" y="3944588"/>
                </a:lnTo>
                <a:lnTo>
                  <a:pt x="13402733" y="0"/>
                </a:lnTo>
                <a:lnTo>
                  <a:pt x="0" y="0"/>
                </a:lnTo>
                <a:lnTo>
                  <a:pt x="0" y="3944588"/>
                </a:lnTo>
                <a:close/>
              </a:path>
            </a:pathLst>
          </a:custGeom>
          <a:solidFill>
            <a:srgbClr val="0FE6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7113553" y="4445417"/>
            <a:ext cx="5837555" cy="9648825"/>
          </a:xfrm>
          <a:custGeom>
            <a:avLst/>
            <a:gdLst/>
            <a:ahLst/>
            <a:cxnLst/>
            <a:rect l="l" t="t" r="r" b="b"/>
            <a:pathLst>
              <a:path w="5837555" h="9648825">
                <a:moveTo>
                  <a:pt x="5837102" y="0"/>
                </a:moveTo>
                <a:lnTo>
                  <a:pt x="0" y="0"/>
                </a:lnTo>
                <a:lnTo>
                  <a:pt x="0" y="9648726"/>
                </a:lnTo>
                <a:lnTo>
                  <a:pt x="5837102" y="9648726"/>
                </a:lnTo>
                <a:lnTo>
                  <a:pt x="58371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7113553" y="4445417"/>
            <a:ext cx="5837555" cy="9648825"/>
          </a:xfrm>
          <a:custGeom>
            <a:avLst/>
            <a:gdLst/>
            <a:ahLst/>
            <a:cxnLst/>
            <a:rect l="l" t="t" r="r" b="b"/>
            <a:pathLst>
              <a:path w="5837555" h="9648825">
                <a:moveTo>
                  <a:pt x="0" y="9648726"/>
                </a:moveTo>
                <a:lnTo>
                  <a:pt x="5837102" y="9648726"/>
                </a:lnTo>
                <a:lnTo>
                  <a:pt x="5837102" y="0"/>
                </a:lnTo>
                <a:lnTo>
                  <a:pt x="0" y="0"/>
                </a:lnTo>
                <a:lnTo>
                  <a:pt x="0" y="9648726"/>
                </a:lnTo>
                <a:close/>
              </a:path>
            </a:pathLst>
          </a:custGeom>
          <a:ln w="8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429915" y="14178354"/>
            <a:ext cx="6444615" cy="3683635"/>
          </a:xfrm>
          <a:custGeom>
            <a:avLst/>
            <a:gdLst/>
            <a:ahLst/>
            <a:cxnLst/>
            <a:rect l="l" t="t" r="r" b="b"/>
            <a:pathLst>
              <a:path w="6444615" h="3683634">
                <a:moveTo>
                  <a:pt x="6444303" y="0"/>
                </a:moveTo>
                <a:lnTo>
                  <a:pt x="0" y="0"/>
                </a:lnTo>
                <a:lnTo>
                  <a:pt x="0" y="3683092"/>
                </a:lnTo>
                <a:lnTo>
                  <a:pt x="6444303" y="3683092"/>
                </a:lnTo>
                <a:lnTo>
                  <a:pt x="64443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29915" y="14178354"/>
            <a:ext cx="6444615" cy="3683635"/>
          </a:xfrm>
          <a:custGeom>
            <a:avLst/>
            <a:gdLst/>
            <a:ahLst/>
            <a:cxnLst/>
            <a:rect l="l" t="t" r="r" b="b"/>
            <a:pathLst>
              <a:path w="6444615" h="3683634">
                <a:moveTo>
                  <a:pt x="0" y="3683092"/>
                </a:moveTo>
                <a:lnTo>
                  <a:pt x="6444303" y="3683092"/>
                </a:lnTo>
                <a:lnTo>
                  <a:pt x="6444303" y="0"/>
                </a:lnTo>
                <a:lnTo>
                  <a:pt x="0" y="0"/>
                </a:lnTo>
                <a:lnTo>
                  <a:pt x="0" y="3683092"/>
                </a:lnTo>
                <a:close/>
              </a:path>
            </a:pathLst>
          </a:custGeom>
          <a:ln w="8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7113553" y="14182786"/>
            <a:ext cx="5833110" cy="3679190"/>
          </a:xfrm>
          <a:custGeom>
            <a:avLst/>
            <a:gdLst/>
            <a:ahLst/>
            <a:cxnLst/>
            <a:rect l="l" t="t" r="r" b="b"/>
            <a:pathLst>
              <a:path w="5833109" h="3679190">
                <a:moveTo>
                  <a:pt x="5832670" y="0"/>
                </a:moveTo>
                <a:lnTo>
                  <a:pt x="0" y="0"/>
                </a:lnTo>
                <a:lnTo>
                  <a:pt x="0" y="3678660"/>
                </a:lnTo>
                <a:lnTo>
                  <a:pt x="5832670" y="3678660"/>
                </a:lnTo>
                <a:lnTo>
                  <a:pt x="58326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7113553" y="14182786"/>
            <a:ext cx="5833110" cy="3679190"/>
          </a:xfrm>
          <a:custGeom>
            <a:avLst/>
            <a:gdLst/>
            <a:ahLst/>
            <a:cxnLst/>
            <a:rect l="l" t="t" r="r" b="b"/>
            <a:pathLst>
              <a:path w="5833109" h="3679190">
                <a:moveTo>
                  <a:pt x="0" y="3678660"/>
                </a:moveTo>
                <a:lnTo>
                  <a:pt x="5832670" y="3678660"/>
                </a:lnTo>
                <a:lnTo>
                  <a:pt x="5832670" y="0"/>
                </a:lnTo>
                <a:lnTo>
                  <a:pt x="0" y="0"/>
                </a:lnTo>
                <a:lnTo>
                  <a:pt x="0" y="3678660"/>
                </a:lnTo>
                <a:close/>
              </a:path>
            </a:pathLst>
          </a:custGeom>
          <a:ln w="8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20675" y="2113122"/>
            <a:ext cx="3771900" cy="834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8186" y="7669565"/>
            <a:ext cx="5888355" cy="6220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557649" y="18696814"/>
            <a:ext cx="4289552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70242" y="18696814"/>
            <a:ext cx="3083115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651492" y="18696814"/>
            <a:ext cx="3083115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jpg"/><Relationship Id="rId7" Type="http://schemas.openxmlformats.org/officeDocument/2006/relationships/image" Target="../media/image7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96076" y="14306447"/>
            <a:ext cx="1876425" cy="366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200" spc="-275">
                <a:latin typeface="Arial Black"/>
                <a:cs typeface="Arial Black"/>
              </a:rPr>
              <a:t>REFERÊNCIAS</a:t>
            </a:r>
            <a:endParaRPr sz="22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3141325" cy="4335145"/>
            <a:chOff x="0" y="0"/>
            <a:chExt cx="13141325" cy="43351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09139"/>
              <a:ext cx="3563424" cy="114348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1464" y="0"/>
              <a:ext cx="10597200" cy="433461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77258" y="797782"/>
              <a:ext cx="3363979" cy="108586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670382" y="5584720"/>
            <a:ext cx="2038985" cy="4108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85"/>
              </a:spcBef>
            </a:pPr>
            <a:r>
              <a:rPr dirty="0" sz="2350" spc="-185">
                <a:latin typeface="Arial Black"/>
                <a:cs typeface="Arial Black"/>
              </a:rPr>
              <a:t>INTRODUÇÃO</a:t>
            </a:r>
            <a:endParaRPr sz="2350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5470" y="4440972"/>
            <a:ext cx="12667615" cy="15313025"/>
            <a:chOff x="425470" y="4440972"/>
            <a:chExt cx="12667615" cy="15313025"/>
          </a:xfrm>
        </p:grpSpPr>
        <p:sp>
          <p:nvSpPr>
            <p:cNvPr id="9" name="object 9"/>
            <p:cNvSpPr/>
            <p:nvPr/>
          </p:nvSpPr>
          <p:spPr>
            <a:xfrm>
              <a:off x="429915" y="4445417"/>
              <a:ext cx="6444615" cy="4751705"/>
            </a:xfrm>
            <a:custGeom>
              <a:avLst/>
              <a:gdLst/>
              <a:ahLst/>
              <a:cxnLst/>
              <a:rect l="l" t="t" r="r" b="b"/>
              <a:pathLst>
                <a:path w="6444615" h="4751705">
                  <a:moveTo>
                    <a:pt x="6444303" y="0"/>
                  </a:moveTo>
                  <a:lnTo>
                    <a:pt x="0" y="0"/>
                  </a:lnTo>
                  <a:lnTo>
                    <a:pt x="0" y="4751233"/>
                  </a:lnTo>
                  <a:lnTo>
                    <a:pt x="6444303" y="4751233"/>
                  </a:lnTo>
                  <a:lnTo>
                    <a:pt x="64443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29915" y="4445417"/>
              <a:ext cx="6444615" cy="4751705"/>
            </a:xfrm>
            <a:custGeom>
              <a:avLst/>
              <a:gdLst/>
              <a:ahLst/>
              <a:cxnLst/>
              <a:rect l="l" t="t" r="r" b="b"/>
              <a:pathLst>
                <a:path w="6444615" h="4751705">
                  <a:moveTo>
                    <a:pt x="0" y="4751233"/>
                  </a:moveTo>
                  <a:lnTo>
                    <a:pt x="6444303" y="4751233"/>
                  </a:lnTo>
                  <a:lnTo>
                    <a:pt x="6444303" y="0"/>
                  </a:lnTo>
                  <a:lnTo>
                    <a:pt x="0" y="0"/>
                  </a:lnTo>
                  <a:lnTo>
                    <a:pt x="0" y="4751233"/>
                  </a:lnTo>
                  <a:close/>
                </a:path>
              </a:pathLst>
            </a:custGeom>
            <a:ln w="8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29915" y="9307453"/>
              <a:ext cx="6444615" cy="4782820"/>
            </a:xfrm>
            <a:custGeom>
              <a:avLst/>
              <a:gdLst/>
              <a:ahLst/>
              <a:cxnLst/>
              <a:rect l="l" t="t" r="r" b="b"/>
              <a:pathLst>
                <a:path w="6444615" h="4782819">
                  <a:moveTo>
                    <a:pt x="6444303" y="0"/>
                  </a:moveTo>
                  <a:lnTo>
                    <a:pt x="0" y="0"/>
                  </a:lnTo>
                  <a:lnTo>
                    <a:pt x="0" y="4782258"/>
                  </a:lnTo>
                  <a:lnTo>
                    <a:pt x="6444303" y="4782258"/>
                  </a:lnTo>
                  <a:lnTo>
                    <a:pt x="64443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29915" y="9307453"/>
              <a:ext cx="6444615" cy="4782820"/>
            </a:xfrm>
            <a:custGeom>
              <a:avLst/>
              <a:gdLst/>
              <a:ahLst/>
              <a:cxnLst/>
              <a:rect l="l" t="t" r="r" b="b"/>
              <a:pathLst>
                <a:path w="6444615" h="4782819">
                  <a:moveTo>
                    <a:pt x="0" y="4782258"/>
                  </a:moveTo>
                  <a:lnTo>
                    <a:pt x="6444303" y="4782258"/>
                  </a:lnTo>
                  <a:lnTo>
                    <a:pt x="6444303" y="0"/>
                  </a:lnTo>
                  <a:lnTo>
                    <a:pt x="0" y="0"/>
                  </a:lnTo>
                  <a:lnTo>
                    <a:pt x="0" y="4782258"/>
                  </a:lnTo>
                  <a:close/>
                </a:path>
              </a:pathLst>
            </a:custGeom>
            <a:ln w="8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81965" y="17125714"/>
              <a:ext cx="2610518" cy="2628247"/>
            </a:xfrm>
            <a:prstGeom prst="rect">
              <a:avLst/>
            </a:prstGeom>
          </p:spPr>
        </p:pic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4820675" y="2113122"/>
            <a:ext cx="3771900" cy="8343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65"/>
              <a:t>PETBUTLER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65439" y="2882527"/>
            <a:ext cx="11448415" cy="974725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dirty="0" sz="2200" spc="-100">
                <a:latin typeface="Arial Black"/>
                <a:cs typeface="Arial Black"/>
              </a:rPr>
              <a:t>Sabrinna</a:t>
            </a:r>
            <a:r>
              <a:rPr dirty="0" sz="2200" spc="-130">
                <a:latin typeface="Arial Black"/>
                <a:cs typeface="Arial Black"/>
              </a:rPr>
              <a:t> </a:t>
            </a:r>
            <a:r>
              <a:rPr dirty="0" sz="2200" spc="-150">
                <a:latin typeface="Arial Black"/>
                <a:cs typeface="Arial Black"/>
              </a:rPr>
              <a:t>Vicente, </a:t>
            </a:r>
            <a:r>
              <a:rPr dirty="0" sz="2200" spc="-60">
                <a:latin typeface="Arial Black"/>
                <a:cs typeface="Arial Black"/>
              </a:rPr>
              <a:t>Maria</a:t>
            </a:r>
            <a:r>
              <a:rPr dirty="0" sz="2200" spc="-125">
                <a:latin typeface="Arial Black"/>
                <a:cs typeface="Arial Black"/>
              </a:rPr>
              <a:t> </a:t>
            </a:r>
            <a:r>
              <a:rPr dirty="0" sz="2200" spc="-155">
                <a:latin typeface="Arial Black"/>
                <a:cs typeface="Arial Black"/>
              </a:rPr>
              <a:t>Kassandra</a:t>
            </a:r>
            <a:r>
              <a:rPr dirty="0" sz="2200" spc="-130">
                <a:latin typeface="Arial Black"/>
                <a:cs typeface="Arial Black"/>
              </a:rPr>
              <a:t> </a:t>
            </a:r>
            <a:r>
              <a:rPr dirty="0" sz="2200" spc="-155">
                <a:latin typeface="Arial Black"/>
                <a:cs typeface="Arial Black"/>
              </a:rPr>
              <a:t>Gomes,</a:t>
            </a:r>
            <a:r>
              <a:rPr dirty="0" sz="2200" spc="-145">
                <a:latin typeface="Arial Black"/>
                <a:cs typeface="Arial Black"/>
              </a:rPr>
              <a:t> </a:t>
            </a:r>
            <a:r>
              <a:rPr dirty="0" sz="2200" spc="-100">
                <a:latin typeface="Arial Black"/>
                <a:cs typeface="Arial Black"/>
              </a:rPr>
              <a:t>Leonardo</a:t>
            </a:r>
            <a:r>
              <a:rPr dirty="0" sz="2200" spc="-125">
                <a:latin typeface="Arial Black"/>
                <a:cs typeface="Arial Black"/>
              </a:rPr>
              <a:t> </a:t>
            </a:r>
            <a:r>
              <a:rPr dirty="0" sz="2200" spc="-90">
                <a:latin typeface="Arial Black"/>
                <a:cs typeface="Arial Black"/>
              </a:rPr>
              <a:t>Ferreira,</a:t>
            </a:r>
            <a:r>
              <a:rPr dirty="0" sz="2200" spc="-120">
                <a:latin typeface="Arial Black"/>
                <a:cs typeface="Arial Black"/>
              </a:rPr>
              <a:t> </a:t>
            </a:r>
            <a:r>
              <a:rPr dirty="0" sz="2200" spc="-114">
                <a:latin typeface="Arial Black"/>
                <a:cs typeface="Arial Black"/>
              </a:rPr>
              <a:t>Sátiro</a:t>
            </a:r>
            <a:r>
              <a:rPr dirty="0" sz="2200" spc="-125">
                <a:latin typeface="Arial Black"/>
                <a:cs typeface="Arial Black"/>
              </a:rPr>
              <a:t> </a:t>
            </a:r>
            <a:r>
              <a:rPr dirty="0" sz="2200" spc="-10">
                <a:latin typeface="Arial Black"/>
                <a:cs typeface="Arial Black"/>
              </a:rPr>
              <a:t>Santos.</a:t>
            </a:r>
            <a:endParaRPr sz="22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dirty="0" sz="2200" spc="-95">
                <a:latin typeface="Arial Black"/>
                <a:cs typeface="Arial Black"/>
              </a:rPr>
              <a:t>Orientadores:</a:t>
            </a:r>
            <a:r>
              <a:rPr dirty="0" sz="2200" spc="-65">
                <a:latin typeface="Arial Black"/>
                <a:cs typeface="Arial Black"/>
              </a:rPr>
              <a:t> </a:t>
            </a:r>
            <a:r>
              <a:rPr dirty="0" sz="2200" spc="50">
                <a:latin typeface="Arial MT"/>
                <a:cs typeface="Arial MT"/>
              </a:rPr>
              <a:t>Victor</a:t>
            </a:r>
            <a:r>
              <a:rPr dirty="0" sz="2200" spc="3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Rosetti,</a:t>
            </a:r>
            <a:r>
              <a:rPr dirty="0" sz="2200" spc="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Edson</a:t>
            </a:r>
            <a:r>
              <a:rPr dirty="0" sz="2200" spc="70">
                <a:latin typeface="Arial MT"/>
                <a:cs typeface="Arial MT"/>
              </a:rPr>
              <a:t> </a:t>
            </a:r>
            <a:r>
              <a:rPr dirty="0" sz="2200" spc="55">
                <a:latin typeface="Arial MT"/>
                <a:cs typeface="Arial MT"/>
              </a:rPr>
              <a:t>Barbeiro,</a:t>
            </a:r>
            <a:r>
              <a:rPr dirty="0" sz="2200" spc="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Rodnil</a:t>
            </a:r>
            <a:r>
              <a:rPr dirty="0" sz="2200" spc="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Lisboa,</a:t>
            </a:r>
            <a:r>
              <a:rPr dirty="0" sz="2200" spc="55">
                <a:latin typeface="Arial MT"/>
                <a:cs typeface="Arial MT"/>
              </a:rPr>
              <a:t> </a:t>
            </a:r>
            <a:r>
              <a:rPr dirty="0" sz="2200" spc="-70">
                <a:latin typeface="Arial MT"/>
                <a:cs typeface="Arial MT"/>
              </a:rPr>
              <a:t>João</a:t>
            </a:r>
            <a:r>
              <a:rPr dirty="0" sz="2200" spc="1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Trencher,</a:t>
            </a:r>
            <a:r>
              <a:rPr dirty="0" sz="2200" spc="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Lucy</a:t>
            </a:r>
            <a:r>
              <a:rPr dirty="0" sz="2200" spc="85">
                <a:latin typeface="Arial MT"/>
                <a:cs typeface="Arial MT"/>
              </a:rPr>
              <a:t> </a:t>
            </a:r>
            <a:r>
              <a:rPr dirty="0" sz="2200" spc="45">
                <a:latin typeface="Arial MT"/>
                <a:cs typeface="Arial MT"/>
              </a:rPr>
              <a:t>Tabuti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65187" y="4549281"/>
            <a:ext cx="1875155" cy="366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200" spc="-80">
                <a:latin typeface="Arial Black"/>
                <a:cs typeface="Arial Black"/>
              </a:rPr>
              <a:t>O</a:t>
            </a:r>
            <a:r>
              <a:rPr dirty="0" sz="2200" spc="-170">
                <a:latin typeface="Arial Black"/>
                <a:cs typeface="Arial Black"/>
              </a:rPr>
              <a:t> </a:t>
            </a:r>
            <a:r>
              <a:rPr dirty="0" sz="2200" spc="-180">
                <a:latin typeface="Arial Black"/>
                <a:cs typeface="Arial Black"/>
              </a:rPr>
              <a:t>PROBLEMA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47445" y="14951794"/>
            <a:ext cx="5334000" cy="2392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350">
              <a:lnSpc>
                <a:spcPct val="142600"/>
              </a:lnSpc>
              <a:spcBef>
                <a:spcPts val="95"/>
              </a:spcBef>
            </a:pPr>
            <a:r>
              <a:rPr dirty="0" sz="1550" spc="-25">
                <a:latin typeface="Arial MT"/>
                <a:cs typeface="Arial MT"/>
              </a:rPr>
              <a:t>ABINPET.</a:t>
            </a:r>
            <a:r>
              <a:rPr dirty="0" sz="1550" spc="1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Projeções</a:t>
            </a:r>
            <a:r>
              <a:rPr dirty="0" sz="1550" spc="1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</a:t>
            </a:r>
            <a:r>
              <a:rPr dirty="0" sz="1550" spc="180">
                <a:latin typeface="Arial MT"/>
                <a:cs typeface="Arial MT"/>
              </a:rPr>
              <a:t> </a:t>
            </a:r>
            <a:r>
              <a:rPr dirty="0" sz="1550" spc="50">
                <a:latin typeface="Arial MT"/>
                <a:cs typeface="Arial MT"/>
              </a:rPr>
              <a:t>dados</a:t>
            </a:r>
            <a:r>
              <a:rPr dirty="0" sz="1550" spc="195">
                <a:latin typeface="Arial MT"/>
                <a:cs typeface="Arial MT"/>
              </a:rPr>
              <a:t> </a:t>
            </a:r>
            <a:r>
              <a:rPr dirty="0" sz="1550" spc="90">
                <a:latin typeface="Arial MT"/>
                <a:cs typeface="Arial MT"/>
              </a:rPr>
              <a:t>do</a:t>
            </a:r>
            <a:r>
              <a:rPr dirty="0" sz="1550" spc="175">
                <a:latin typeface="Arial MT"/>
                <a:cs typeface="Arial MT"/>
              </a:rPr>
              <a:t> </a:t>
            </a:r>
            <a:r>
              <a:rPr dirty="0" sz="1550" spc="70">
                <a:latin typeface="Arial MT"/>
                <a:cs typeface="Arial MT"/>
              </a:rPr>
              <a:t>mercado</a:t>
            </a:r>
            <a:r>
              <a:rPr dirty="0" sz="1550" spc="180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pet</a:t>
            </a:r>
            <a:r>
              <a:rPr dirty="0" sz="1550" spc="190">
                <a:latin typeface="Arial MT"/>
                <a:cs typeface="Arial MT"/>
              </a:rPr>
              <a:t> </a:t>
            </a:r>
            <a:r>
              <a:rPr dirty="0" sz="1550" spc="40">
                <a:latin typeface="Arial MT"/>
                <a:cs typeface="Arial MT"/>
              </a:rPr>
              <a:t>brasileiro. </a:t>
            </a:r>
            <a:r>
              <a:rPr dirty="0" sz="1550" spc="-10">
                <a:latin typeface="Arial MT"/>
                <a:cs typeface="Arial MT"/>
              </a:rPr>
              <a:t>2024.</a:t>
            </a:r>
            <a:endParaRPr sz="1550">
              <a:latin typeface="Arial MT"/>
              <a:cs typeface="Arial MT"/>
            </a:endParaRPr>
          </a:p>
          <a:p>
            <a:pPr marL="12700" marR="5080">
              <a:lnSpc>
                <a:spcPct val="140000"/>
              </a:lnSpc>
              <a:spcBef>
                <a:spcPts val="10"/>
              </a:spcBef>
            </a:pPr>
            <a:r>
              <a:rPr dirty="0" sz="1600" spc="-85">
                <a:latin typeface="Arial MT"/>
                <a:cs typeface="Arial MT"/>
              </a:rPr>
              <a:t>ABRAS.</a:t>
            </a:r>
            <a:r>
              <a:rPr dirty="0" sz="1600" spc="9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Overview</a:t>
            </a:r>
            <a:r>
              <a:rPr dirty="0" sz="1600" spc="80">
                <a:latin typeface="Arial MT"/>
                <a:cs typeface="Arial MT"/>
              </a:rPr>
              <a:t> do</a:t>
            </a:r>
            <a:r>
              <a:rPr dirty="0" sz="1600" spc="90">
                <a:latin typeface="Arial MT"/>
                <a:cs typeface="Arial MT"/>
              </a:rPr>
              <a:t> </a:t>
            </a:r>
            <a:r>
              <a:rPr dirty="0" sz="1600" spc="50">
                <a:latin typeface="Arial MT"/>
                <a:cs typeface="Arial MT"/>
              </a:rPr>
              <a:t>mercado</a:t>
            </a:r>
            <a:r>
              <a:rPr dirty="0" sz="1600" spc="10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9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tendências</a:t>
            </a:r>
            <a:r>
              <a:rPr dirty="0" sz="1600" spc="114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95">
                <a:latin typeface="Arial MT"/>
                <a:cs typeface="Arial MT"/>
              </a:rPr>
              <a:t> </a:t>
            </a:r>
            <a:r>
              <a:rPr dirty="0" sz="1600" spc="40">
                <a:latin typeface="Arial MT"/>
                <a:cs typeface="Arial MT"/>
              </a:rPr>
              <a:t>consumo </a:t>
            </a:r>
            <a:r>
              <a:rPr dirty="0" sz="1600" spc="-20">
                <a:latin typeface="Arial MT"/>
                <a:cs typeface="Arial MT"/>
              </a:rPr>
              <a:t>pet.</a:t>
            </a:r>
            <a:endParaRPr sz="1600">
              <a:latin typeface="Arial MT"/>
              <a:cs typeface="Arial MT"/>
            </a:endParaRPr>
          </a:p>
          <a:p>
            <a:pPr marL="12700" marR="5080">
              <a:lnSpc>
                <a:spcPts val="2650"/>
              </a:lnSpc>
              <a:spcBef>
                <a:spcPts val="210"/>
              </a:spcBef>
              <a:tabLst>
                <a:tab pos="704850" algn="l"/>
                <a:tab pos="1692275" algn="l"/>
                <a:tab pos="2379980" algn="l"/>
                <a:tab pos="3138170" algn="l"/>
                <a:tab pos="3402329" algn="l"/>
                <a:tab pos="5082540" algn="l"/>
              </a:tabLst>
            </a:pPr>
            <a:r>
              <a:rPr dirty="0" sz="1550" spc="-10">
                <a:latin typeface="Arial MT"/>
                <a:cs typeface="Arial MT"/>
              </a:rPr>
              <a:t>KOIN.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10">
                <a:latin typeface="Arial MT"/>
                <a:cs typeface="Arial MT"/>
              </a:rPr>
              <a:t>Pesquisa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45">
                <a:latin typeface="Arial MT"/>
                <a:cs typeface="Arial MT"/>
              </a:rPr>
              <a:t>sobre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10">
                <a:latin typeface="Arial MT"/>
                <a:cs typeface="Arial MT"/>
              </a:rPr>
              <a:t>gastos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50">
                <a:latin typeface="Arial MT"/>
                <a:cs typeface="Arial MT"/>
              </a:rPr>
              <a:t>e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75">
                <a:latin typeface="Arial MT"/>
                <a:cs typeface="Arial MT"/>
              </a:rPr>
              <a:t>comportamento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35">
                <a:latin typeface="Arial MT"/>
                <a:cs typeface="Arial MT"/>
              </a:rPr>
              <a:t>de </a:t>
            </a:r>
            <a:r>
              <a:rPr dirty="0" sz="1550" spc="75">
                <a:latin typeface="Arial MT"/>
                <a:cs typeface="Arial MT"/>
              </a:rPr>
              <a:t>tutores</a:t>
            </a:r>
            <a:r>
              <a:rPr dirty="0" sz="1550" spc="10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5">
                <a:latin typeface="Arial MT"/>
                <a:cs typeface="Arial MT"/>
              </a:rPr>
              <a:t> </a:t>
            </a:r>
            <a:r>
              <a:rPr dirty="0" sz="1550" spc="40">
                <a:latin typeface="Arial MT"/>
                <a:cs typeface="Arial MT"/>
              </a:rPr>
              <a:t>pet.</a:t>
            </a: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550" spc="-20">
                <a:latin typeface="Arial MT"/>
                <a:cs typeface="Arial MT"/>
              </a:rPr>
              <a:t>GOV.</a:t>
            </a:r>
            <a:r>
              <a:rPr dirty="0" sz="1550" spc="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Projeção</a:t>
            </a:r>
            <a:r>
              <a:rPr dirty="0" sz="1550" spc="25">
                <a:latin typeface="Arial MT"/>
                <a:cs typeface="Arial MT"/>
              </a:rPr>
              <a:t> </a:t>
            </a:r>
            <a:r>
              <a:rPr dirty="0" sz="1550" spc="90">
                <a:latin typeface="Arial MT"/>
                <a:cs typeface="Arial MT"/>
              </a:rPr>
              <a:t>do</a:t>
            </a:r>
            <a:r>
              <a:rPr dirty="0" sz="1550" spc="25">
                <a:latin typeface="Arial MT"/>
                <a:cs typeface="Arial MT"/>
              </a:rPr>
              <a:t> </a:t>
            </a:r>
            <a:r>
              <a:rPr dirty="0" sz="1550" spc="70">
                <a:latin typeface="Arial MT"/>
                <a:cs typeface="Arial MT"/>
              </a:rPr>
              <a:t>setor</a:t>
            </a:r>
            <a:r>
              <a:rPr dirty="0" sz="1550" spc="10">
                <a:latin typeface="Arial MT"/>
                <a:cs typeface="Arial MT"/>
              </a:rPr>
              <a:t> </a:t>
            </a:r>
            <a:r>
              <a:rPr dirty="0" sz="1550" spc="60">
                <a:latin typeface="Arial MT"/>
                <a:cs typeface="Arial MT"/>
              </a:rPr>
              <a:t>pet.</a:t>
            </a:r>
            <a:r>
              <a:rPr dirty="0" sz="1550" spc="25">
                <a:latin typeface="Arial MT"/>
                <a:cs typeface="Arial MT"/>
              </a:rPr>
              <a:t> </a:t>
            </a:r>
            <a:r>
              <a:rPr dirty="0" sz="1550" spc="-20">
                <a:latin typeface="Arial MT"/>
                <a:cs typeface="Arial MT"/>
              </a:rPr>
              <a:t>2025.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0241" y="14310289"/>
            <a:ext cx="5873115" cy="34772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198120">
              <a:lnSpc>
                <a:spcPct val="100000"/>
              </a:lnSpc>
              <a:spcBef>
                <a:spcPts val="135"/>
              </a:spcBef>
            </a:pPr>
            <a:r>
              <a:rPr dirty="0" sz="2200" spc="-215">
                <a:latin typeface="Arial Black"/>
                <a:cs typeface="Arial Black"/>
              </a:rPr>
              <a:t>TECNOLOGIAS</a:t>
            </a:r>
            <a:r>
              <a:rPr dirty="0" sz="2200" spc="-100">
                <a:latin typeface="Arial Black"/>
                <a:cs typeface="Arial Black"/>
              </a:rPr>
              <a:t> </a:t>
            </a:r>
            <a:r>
              <a:rPr dirty="0" sz="2200" spc="-110">
                <a:latin typeface="Arial Black"/>
                <a:cs typeface="Arial Black"/>
              </a:rPr>
              <a:t>UTILIZADAS</a:t>
            </a:r>
            <a:endParaRPr sz="2200">
              <a:latin typeface="Arial Black"/>
              <a:cs typeface="Arial Black"/>
            </a:endParaRPr>
          </a:p>
          <a:p>
            <a:pPr marL="222250" marR="2638425" indent="-210185">
              <a:lnSpc>
                <a:spcPct val="138200"/>
              </a:lnSpc>
              <a:spcBef>
                <a:spcPts val="495"/>
              </a:spcBef>
            </a:pPr>
            <a:r>
              <a:rPr dirty="0" sz="1600">
                <a:latin typeface="Arial MT"/>
                <a:cs typeface="Arial MT"/>
              </a:rPr>
              <a:t>O</a:t>
            </a:r>
            <a:r>
              <a:rPr dirty="0" sz="1600" spc="120">
                <a:latin typeface="Arial MT"/>
                <a:cs typeface="Arial MT"/>
              </a:rPr>
              <a:t> </a:t>
            </a:r>
            <a:r>
              <a:rPr dirty="0" sz="1600" spc="70">
                <a:latin typeface="Arial MT"/>
                <a:cs typeface="Arial MT"/>
              </a:rPr>
              <a:t>projeto</a:t>
            </a:r>
            <a:r>
              <a:rPr dirty="0" sz="1600" spc="114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inclui</a:t>
            </a:r>
            <a:r>
              <a:rPr dirty="0" sz="1600" spc="1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tecnologias</a:t>
            </a:r>
            <a:r>
              <a:rPr dirty="0" sz="1600" spc="114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como: </a:t>
            </a:r>
            <a:r>
              <a:rPr dirty="0" sz="1600" spc="-10">
                <a:latin typeface="Arial MT"/>
                <a:cs typeface="Arial MT"/>
              </a:rPr>
              <a:t>Hardware:</a:t>
            </a:r>
            <a:endParaRPr sz="1600">
              <a:latin typeface="Arial MT"/>
              <a:cs typeface="Arial MT"/>
            </a:endParaRPr>
          </a:p>
          <a:p>
            <a:pPr marL="354330" marR="5715" indent="-170180">
              <a:lnSpc>
                <a:spcPct val="142600"/>
              </a:lnSpc>
              <a:spcBef>
                <a:spcPts val="20"/>
              </a:spcBef>
              <a:buChar char="•"/>
              <a:tabLst>
                <a:tab pos="356870" algn="l"/>
              </a:tabLst>
            </a:pPr>
            <a:r>
              <a:rPr dirty="0" sz="1550">
                <a:latin typeface="Arial MT"/>
                <a:cs typeface="Arial MT"/>
              </a:rPr>
              <a:t>Sensores</a:t>
            </a:r>
            <a:r>
              <a:rPr dirty="0" sz="1550" spc="465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4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nível</a:t>
            </a:r>
            <a:r>
              <a:rPr dirty="0" sz="1550" spc="4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</a:t>
            </a:r>
            <a:r>
              <a:rPr dirty="0" sz="1550" spc="4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peso,</a:t>
            </a:r>
            <a:r>
              <a:rPr dirty="0" sz="1550" spc="470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que</a:t>
            </a:r>
            <a:r>
              <a:rPr dirty="0" sz="1550" spc="450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controlam</a:t>
            </a:r>
            <a:r>
              <a:rPr dirty="0" sz="1550" spc="4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as</a:t>
            </a:r>
            <a:r>
              <a:rPr dirty="0" sz="1550" spc="465">
                <a:latin typeface="Arial MT"/>
                <a:cs typeface="Arial MT"/>
              </a:rPr>
              <a:t> </a:t>
            </a:r>
            <a:r>
              <a:rPr dirty="0" sz="1550" spc="50">
                <a:latin typeface="Arial MT"/>
                <a:cs typeface="Arial MT"/>
              </a:rPr>
              <a:t>porções</a:t>
            </a:r>
            <a:r>
              <a:rPr dirty="0" sz="1550" spc="459">
                <a:latin typeface="Arial MT"/>
                <a:cs typeface="Arial MT"/>
              </a:rPr>
              <a:t> </a:t>
            </a:r>
            <a:r>
              <a:rPr dirty="0" sz="1550" spc="-50">
                <a:latin typeface="Arial MT"/>
                <a:cs typeface="Arial MT"/>
              </a:rPr>
              <a:t>e </a:t>
            </a:r>
            <a:r>
              <a:rPr dirty="0" sz="1550" spc="-50">
                <a:latin typeface="Arial MT"/>
                <a:cs typeface="Arial MT"/>
              </a:rPr>
              <a:t>	</a:t>
            </a:r>
            <a:r>
              <a:rPr dirty="0" sz="1550">
                <a:latin typeface="Arial MT"/>
                <a:cs typeface="Arial MT"/>
              </a:rPr>
              <a:t>avisam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sobre</a:t>
            </a:r>
            <a:r>
              <a:rPr dirty="0" sz="1550" spc="75">
                <a:latin typeface="Arial MT"/>
                <a:cs typeface="Arial MT"/>
              </a:rPr>
              <a:t> o</a:t>
            </a:r>
            <a:r>
              <a:rPr dirty="0" sz="1550" spc="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nível</a:t>
            </a:r>
            <a:r>
              <a:rPr dirty="0" sz="1550" spc="35">
                <a:latin typeface="Arial MT"/>
                <a:cs typeface="Arial MT"/>
              </a:rPr>
              <a:t> </a:t>
            </a:r>
            <a:r>
              <a:rPr dirty="0" sz="1550" spc="65">
                <a:latin typeface="Arial MT"/>
                <a:cs typeface="Arial MT"/>
              </a:rPr>
              <a:t>restante</a:t>
            </a:r>
            <a:r>
              <a:rPr dirty="0" sz="1550" spc="50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da</a:t>
            </a:r>
            <a:r>
              <a:rPr dirty="0" sz="1550" spc="4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água;</a:t>
            </a:r>
            <a:endParaRPr sz="1550">
              <a:latin typeface="Arial MT"/>
              <a:cs typeface="Arial MT"/>
            </a:endParaRPr>
          </a:p>
          <a:p>
            <a:pPr marL="354330" marR="5080" indent="-170180">
              <a:lnSpc>
                <a:spcPct val="138200"/>
              </a:lnSpc>
              <a:spcBef>
                <a:spcPts val="45"/>
              </a:spcBef>
              <a:buSzPct val="96875"/>
              <a:buChar char="•"/>
              <a:tabLst>
                <a:tab pos="356870" algn="l"/>
              </a:tabLst>
            </a:pPr>
            <a:r>
              <a:rPr dirty="0" sz="1600" spc="60">
                <a:latin typeface="Arial MT"/>
                <a:cs typeface="Arial MT"/>
              </a:rPr>
              <a:t>Microcontrolador</a:t>
            </a:r>
            <a:r>
              <a:rPr dirty="0" sz="1600" spc="4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Esp8266</a:t>
            </a:r>
            <a:r>
              <a:rPr dirty="0" sz="1600" spc="409">
                <a:latin typeface="Arial MT"/>
                <a:cs typeface="Arial MT"/>
              </a:rPr>
              <a:t> </a:t>
            </a:r>
            <a:r>
              <a:rPr dirty="0" sz="1600" spc="55">
                <a:latin typeface="Arial MT"/>
                <a:cs typeface="Arial MT"/>
              </a:rPr>
              <a:t>que</a:t>
            </a:r>
            <a:r>
              <a:rPr dirty="0" sz="1600" spc="425">
                <a:latin typeface="Arial MT"/>
                <a:cs typeface="Arial MT"/>
              </a:rPr>
              <a:t> </a:t>
            </a:r>
            <a:r>
              <a:rPr dirty="0" sz="1600" spc="55">
                <a:latin typeface="Arial MT"/>
                <a:cs typeface="Arial MT"/>
              </a:rPr>
              <a:t>controla</a:t>
            </a:r>
            <a:r>
              <a:rPr dirty="0" sz="1600" spc="409">
                <a:latin typeface="Arial MT"/>
                <a:cs typeface="Arial MT"/>
              </a:rPr>
              <a:t> </a:t>
            </a:r>
            <a:r>
              <a:rPr dirty="0" sz="1600" spc="75">
                <a:latin typeface="Arial MT"/>
                <a:cs typeface="Arial MT"/>
              </a:rPr>
              <a:t>o</a:t>
            </a:r>
            <a:r>
              <a:rPr dirty="0" sz="1600" spc="4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dispensar</a:t>
            </a:r>
            <a:r>
              <a:rPr dirty="0" sz="1600" spc="434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de </a:t>
            </a:r>
            <a:r>
              <a:rPr dirty="0" sz="1600" spc="-25">
                <a:latin typeface="Arial MT"/>
                <a:cs typeface="Arial MT"/>
              </a:rPr>
              <a:t>	</a:t>
            </a:r>
            <a:r>
              <a:rPr dirty="0" sz="1600" spc="60">
                <a:latin typeface="Arial MT"/>
                <a:cs typeface="Arial MT"/>
              </a:rPr>
              <a:t>alimento</a:t>
            </a:r>
            <a:r>
              <a:rPr dirty="0" sz="1600" spc="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garante</a:t>
            </a:r>
            <a:r>
              <a:rPr dirty="0" sz="1600" spc="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</a:t>
            </a:r>
            <a:r>
              <a:rPr dirty="0" sz="1600" spc="40">
                <a:latin typeface="Arial MT"/>
                <a:cs typeface="Arial MT"/>
              </a:rPr>
              <a:t> </a:t>
            </a:r>
            <a:r>
              <a:rPr dirty="0" sz="1600" spc="55">
                <a:latin typeface="Arial MT"/>
                <a:cs typeface="Arial MT"/>
              </a:rPr>
              <a:t>leitura</a:t>
            </a:r>
            <a:r>
              <a:rPr dirty="0" sz="1600" spc="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ações.</a:t>
            </a:r>
            <a:endParaRPr sz="1600">
              <a:latin typeface="Arial MT"/>
              <a:cs typeface="Arial MT"/>
            </a:endParaRPr>
          </a:p>
          <a:p>
            <a:pPr marL="184785">
              <a:lnSpc>
                <a:spcPct val="100000"/>
              </a:lnSpc>
              <a:spcBef>
                <a:spcPts val="770"/>
              </a:spcBef>
            </a:pPr>
            <a:r>
              <a:rPr dirty="0" sz="1600" spc="-10">
                <a:latin typeface="Arial MT"/>
                <a:cs typeface="Arial MT"/>
              </a:rPr>
              <a:t>Software:</a:t>
            </a:r>
            <a:endParaRPr sz="1600">
              <a:latin typeface="Arial MT"/>
              <a:cs typeface="Arial MT"/>
            </a:endParaRPr>
          </a:p>
          <a:p>
            <a:pPr marL="354965" indent="-170180">
              <a:lnSpc>
                <a:spcPct val="100000"/>
              </a:lnSpc>
              <a:spcBef>
                <a:spcPts val="765"/>
              </a:spcBef>
              <a:buSzPct val="96875"/>
              <a:buChar char="•"/>
              <a:tabLst>
                <a:tab pos="354965" algn="l"/>
              </a:tabLst>
            </a:pPr>
            <a:r>
              <a:rPr dirty="0" sz="1600">
                <a:latin typeface="Arial MT"/>
                <a:cs typeface="Arial MT"/>
              </a:rPr>
              <a:t>Linguagem</a:t>
            </a:r>
            <a:r>
              <a:rPr dirty="0" sz="1600" spc="145">
                <a:latin typeface="Arial MT"/>
                <a:cs typeface="Arial MT"/>
              </a:rPr>
              <a:t> </a:t>
            </a:r>
            <a:r>
              <a:rPr dirty="0" sz="1600" spc="-70">
                <a:latin typeface="Arial MT"/>
                <a:cs typeface="Arial MT"/>
              </a:rPr>
              <a:t>C++</a:t>
            </a:r>
            <a:r>
              <a:rPr dirty="0" sz="1600" spc="1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(Arduíno</a:t>
            </a:r>
            <a:r>
              <a:rPr dirty="0" sz="1600" spc="1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Framework);</a:t>
            </a:r>
            <a:endParaRPr sz="1600">
              <a:latin typeface="Arial MT"/>
              <a:cs typeface="Arial MT"/>
            </a:endParaRPr>
          </a:p>
          <a:p>
            <a:pPr marL="354965" indent="-170180">
              <a:lnSpc>
                <a:spcPct val="100000"/>
              </a:lnSpc>
              <a:spcBef>
                <a:spcPts val="785"/>
              </a:spcBef>
              <a:buChar char="•"/>
              <a:tabLst>
                <a:tab pos="354965" algn="l"/>
              </a:tabLst>
            </a:pPr>
            <a:r>
              <a:rPr dirty="0" sz="1550" spc="55">
                <a:latin typeface="Arial MT"/>
                <a:cs typeface="Arial MT"/>
              </a:rPr>
              <a:t>Flutter</a:t>
            </a:r>
            <a:r>
              <a:rPr dirty="0" sz="1550" spc="5">
                <a:latin typeface="Arial MT"/>
                <a:cs typeface="Arial MT"/>
              </a:rPr>
              <a:t> </a:t>
            </a:r>
            <a:r>
              <a:rPr dirty="0" sz="1550" spc="65">
                <a:latin typeface="Arial MT"/>
                <a:cs typeface="Arial MT"/>
              </a:rPr>
              <a:t>para</a:t>
            </a:r>
            <a:r>
              <a:rPr dirty="0" sz="1550" spc="-20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interface</a:t>
            </a:r>
            <a:r>
              <a:rPr dirty="0" sz="1550" spc="20">
                <a:latin typeface="Arial MT"/>
                <a:cs typeface="Arial MT"/>
              </a:rPr>
              <a:t> </a:t>
            </a:r>
            <a:r>
              <a:rPr dirty="0" sz="1550" spc="90">
                <a:latin typeface="Arial MT"/>
                <a:cs typeface="Arial MT"/>
              </a:rPr>
              <a:t>do</a:t>
            </a:r>
            <a:r>
              <a:rPr dirty="0" sz="1550" spc="-10">
                <a:latin typeface="Arial MT"/>
                <a:cs typeface="Arial MT"/>
              </a:rPr>
              <a:t> </a:t>
            </a:r>
            <a:r>
              <a:rPr dirty="0" sz="1550" spc="-20">
                <a:latin typeface="Arial MT"/>
                <a:cs typeface="Arial MT"/>
              </a:rPr>
              <a:t>site.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0241" y="4951866"/>
            <a:ext cx="5876925" cy="27432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algn="just" marL="12700" marR="5080">
              <a:lnSpc>
                <a:spcPct val="139600"/>
              </a:lnSpc>
              <a:spcBef>
                <a:spcPts val="70"/>
              </a:spcBef>
            </a:pPr>
            <a:r>
              <a:rPr dirty="0" sz="1600">
                <a:latin typeface="Arial MT"/>
                <a:cs typeface="Arial MT"/>
              </a:rPr>
              <a:t>Tutores</a:t>
            </a:r>
            <a:r>
              <a:rPr dirty="0" sz="1600" spc="425">
                <a:latin typeface="Arial MT"/>
                <a:cs typeface="Arial MT"/>
              </a:rPr>
              <a:t> 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434">
                <a:latin typeface="Arial MT"/>
                <a:cs typeface="Arial MT"/>
              </a:rPr>
              <a:t>  </a:t>
            </a:r>
            <a:r>
              <a:rPr dirty="0" sz="1600">
                <a:latin typeface="Arial MT"/>
                <a:cs typeface="Arial MT"/>
              </a:rPr>
              <a:t>animais</a:t>
            </a:r>
            <a:r>
              <a:rPr dirty="0" sz="1600" spc="425">
                <a:latin typeface="Arial MT"/>
                <a:cs typeface="Arial MT"/>
              </a:rPr>
              <a:t>  </a:t>
            </a:r>
            <a:r>
              <a:rPr dirty="0" sz="1600" spc="85">
                <a:latin typeface="Arial MT"/>
                <a:cs typeface="Arial MT"/>
              </a:rPr>
              <a:t>tem</a:t>
            </a:r>
            <a:r>
              <a:rPr dirty="0" sz="1600" spc="425">
                <a:latin typeface="Arial MT"/>
                <a:cs typeface="Arial MT"/>
              </a:rPr>
              <a:t>  </a:t>
            </a:r>
            <a:r>
              <a:rPr dirty="0" sz="1600">
                <a:latin typeface="Arial MT"/>
                <a:cs typeface="Arial MT"/>
              </a:rPr>
              <a:t>dificuldades</a:t>
            </a:r>
            <a:r>
              <a:rPr dirty="0" sz="1600" spc="440">
                <a:latin typeface="Arial MT"/>
                <a:cs typeface="Arial MT"/>
              </a:rPr>
              <a:t>  </a:t>
            </a:r>
            <a:r>
              <a:rPr dirty="0" sz="1600">
                <a:latin typeface="Arial MT"/>
                <a:cs typeface="Arial MT"/>
              </a:rPr>
              <a:t>para</a:t>
            </a:r>
            <a:r>
              <a:rPr dirty="0" sz="1600" spc="440">
                <a:latin typeface="Arial MT"/>
                <a:cs typeface="Arial MT"/>
              </a:rPr>
              <a:t>  </a:t>
            </a:r>
            <a:r>
              <a:rPr dirty="0" sz="1600" spc="70">
                <a:latin typeface="Arial MT"/>
                <a:cs typeface="Arial MT"/>
              </a:rPr>
              <a:t>manter</a:t>
            </a:r>
            <a:r>
              <a:rPr dirty="0" sz="1600" spc="434">
                <a:latin typeface="Arial MT"/>
                <a:cs typeface="Arial MT"/>
              </a:rPr>
              <a:t>  </a:t>
            </a:r>
            <a:r>
              <a:rPr dirty="0" sz="1600" spc="-50">
                <a:latin typeface="Arial MT"/>
                <a:cs typeface="Arial MT"/>
              </a:rPr>
              <a:t>a </a:t>
            </a:r>
            <a:r>
              <a:rPr dirty="0" sz="1600">
                <a:latin typeface="Arial MT"/>
                <a:cs typeface="Arial MT"/>
              </a:rPr>
              <a:t>regularidade</a:t>
            </a:r>
            <a:r>
              <a:rPr dirty="0" sz="1600" spc="434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na</a:t>
            </a:r>
            <a:r>
              <a:rPr dirty="0" sz="1600" spc="4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alimentação</a:t>
            </a:r>
            <a:r>
              <a:rPr dirty="0" sz="1600" spc="40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4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seus</a:t>
            </a:r>
            <a:r>
              <a:rPr dirty="0" sz="1600" spc="40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pets</a:t>
            </a:r>
            <a:r>
              <a:rPr dirty="0" sz="1600" spc="4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devido</a:t>
            </a:r>
            <a:r>
              <a:rPr dirty="0" sz="1600" spc="4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</a:t>
            </a:r>
            <a:r>
              <a:rPr dirty="0" sz="1600" spc="4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eventos </a:t>
            </a:r>
            <a:r>
              <a:rPr dirty="0" sz="1600" spc="55">
                <a:latin typeface="Arial MT"/>
                <a:cs typeface="Arial MT"/>
              </a:rPr>
              <a:t>como</a:t>
            </a:r>
            <a:r>
              <a:rPr dirty="0" sz="1600" spc="1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jornadas</a:t>
            </a:r>
            <a:r>
              <a:rPr dirty="0" sz="1600" spc="1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170">
                <a:latin typeface="Arial MT"/>
                <a:cs typeface="Arial MT"/>
              </a:rPr>
              <a:t> </a:t>
            </a:r>
            <a:r>
              <a:rPr dirty="0" sz="1600" spc="60">
                <a:latin typeface="Arial MT"/>
                <a:cs typeface="Arial MT"/>
              </a:rPr>
              <a:t>trabalho</a:t>
            </a:r>
            <a:r>
              <a:rPr dirty="0" sz="1600" spc="19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extensas</a:t>
            </a:r>
            <a:r>
              <a:rPr dirty="0" sz="1600" spc="1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170">
                <a:latin typeface="Arial MT"/>
                <a:cs typeface="Arial MT"/>
              </a:rPr>
              <a:t> </a:t>
            </a:r>
            <a:r>
              <a:rPr dirty="0" sz="1600" spc="55">
                <a:latin typeface="Arial MT"/>
                <a:cs typeface="Arial MT"/>
              </a:rPr>
              <a:t>rotinas</a:t>
            </a:r>
            <a:r>
              <a:rPr dirty="0" sz="1600" spc="1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variáveis.</a:t>
            </a:r>
            <a:r>
              <a:rPr dirty="0" sz="1600" spc="17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Essa </a:t>
            </a:r>
            <a:r>
              <a:rPr dirty="0" sz="1600">
                <a:latin typeface="Arial MT"/>
                <a:cs typeface="Arial MT"/>
              </a:rPr>
              <a:t>falta</a:t>
            </a:r>
            <a:r>
              <a:rPr dirty="0" sz="1600" spc="85">
                <a:latin typeface="Arial MT"/>
                <a:cs typeface="Arial MT"/>
              </a:rPr>
              <a:t> 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85">
                <a:latin typeface="Arial MT"/>
                <a:cs typeface="Arial MT"/>
              </a:rPr>
              <a:t>  </a:t>
            </a:r>
            <a:r>
              <a:rPr dirty="0" sz="1600" spc="55">
                <a:latin typeface="Arial MT"/>
                <a:cs typeface="Arial MT"/>
              </a:rPr>
              <a:t>controle</a:t>
            </a:r>
            <a:r>
              <a:rPr dirty="0" sz="1600" spc="85">
                <a:latin typeface="Arial MT"/>
                <a:cs typeface="Arial MT"/>
              </a:rPr>
              <a:t>  </a:t>
            </a:r>
            <a:r>
              <a:rPr dirty="0" sz="1600" spc="60">
                <a:latin typeface="Arial MT"/>
                <a:cs typeface="Arial MT"/>
              </a:rPr>
              <a:t>pode</a:t>
            </a:r>
            <a:r>
              <a:rPr dirty="0" sz="1600" spc="85">
                <a:latin typeface="Arial MT"/>
                <a:cs typeface="Arial MT"/>
              </a:rPr>
              <a:t>  </a:t>
            </a:r>
            <a:r>
              <a:rPr dirty="0" sz="1600">
                <a:latin typeface="Arial MT"/>
                <a:cs typeface="Arial MT"/>
              </a:rPr>
              <a:t>gerar</a:t>
            </a:r>
            <a:r>
              <a:rPr dirty="0" sz="1600" spc="85">
                <a:latin typeface="Arial MT"/>
                <a:cs typeface="Arial MT"/>
              </a:rPr>
              <a:t>  </a:t>
            </a:r>
            <a:r>
              <a:rPr dirty="0" sz="1600">
                <a:latin typeface="Arial MT"/>
                <a:cs typeface="Arial MT"/>
              </a:rPr>
              <a:t>riscos,</a:t>
            </a:r>
            <a:r>
              <a:rPr dirty="0" sz="1600" spc="100">
                <a:latin typeface="Arial MT"/>
                <a:cs typeface="Arial MT"/>
              </a:rPr>
              <a:t>  </a:t>
            </a:r>
            <a:r>
              <a:rPr dirty="0" sz="1600" spc="55">
                <a:latin typeface="Arial MT"/>
                <a:cs typeface="Arial MT"/>
              </a:rPr>
              <a:t>como</a:t>
            </a:r>
            <a:r>
              <a:rPr dirty="0" sz="1600" spc="90">
                <a:latin typeface="Arial MT"/>
                <a:cs typeface="Arial MT"/>
              </a:rPr>
              <a:t>  </a:t>
            </a:r>
            <a:r>
              <a:rPr dirty="0" sz="1600" spc="45">
                <a:latin typeface="Arial MT"/>
                <a:cs typeface="Arial MT"/>
              </a:rPr>
              <a:t>dificuldade</a:t>
            </a:r>
            <a:r>
              <a:rPr dirty="0" sz="1600" spc="95">
                <a:latin typeface="Arial MT"/>
                <a:cs typeface="Arial MT"/>
              </a:rPr>
              <a:t>  </a:t>
            </a:r>
            <a:r>
              <a:rPr dirty="0" sz="1600" spc="-25">
                <a:latin typeface="Arial MT"/>
                <a:cs typeface="Arial MT"/>
              </a:rPr>
              <a:t>de </a:t>
            </a:r>
            <a:r>
              <a:rPr dirty="0" sz="1600" spc="70">
                <a:latin typeface="Arial MT"/>
                <a:cs typeface="Arial MT"/>
              </a:rPr>
              <a:t>manter</a:t>
            </a:r>
            <a:r>
              <a:rPr dirty="0" sz="1600" spc="475">
                <a:latin typeface="Arial MT"/>
                <a:cs typeface="Arial MT"/>
              </a:rPr>
              <a:t> </a:t>
            </a:r>
            <a:r>
              <a:rPr dirty="0" sz="1600" spc="55">
                <a:latin typeface="Arial MT"/>
                <a:cs typeface="Arial MT"/>
              </a:rPr>
              <a:t>horários</a:t>
            </a:r>
            <a:r>
              <a:rPr dirty="0" sz="1600" spc="475">
                <a:latin typeface="Arial MT"/>
                <a:cs typeface="Arial MT"/>
              </a:rPr>
              <a:t> </a:t>
            </a:r>
            <a:r>
              <a:rPr dirty="0" sz="1600" spc="50">
                <a:latin typeface="Arial MT"/>
                <a:cs typeface="Arial MT"/>
              </a:rPr>
              <a:t>fixos/rotinas</a:t>
            </a:r>
            <a:r>
              <a:rPr dirty="0" sz="1600" spc="484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4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até</a:t>
            </a:r>
            <a:r>
              <a:rPr dirty="0" sz="1600" spc="4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risco</a:t>
            </a:r>
            <a:r>
              <a:rPr dirty="0" sz="1600" spc="4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4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obesidade</a:t>
            </a:r>
            <a:r>
              <a:rPr dirty="0" sz="1600" spc="490">
                <a:latin typeface="Arial MT"/>
                <a:cs typeface="Arial MT"/>
              </a:rPr>
              <a:t> </a:t>
            </a:r>
            <a:r>
              <a:rPr dirty="0" sz="1600" spc="65">
                <a:latin typeface="Arial MT"/>
                <a:cs typeface="Arial MT"/>
              </a:rPr>
              <a:t>ou </a:t>
            </a:r>
            <a:r>
              <a:rPr dirty="0" sz="1600" spc="45">
                <a:latin typeface="Arial MT"/>
                <a:cs typeface="Arial MT"/>
              </a:rPr>
              <a:t>desnutrição</a:t>
            </a:r>
            <a:r>
              <a:rPr dirty="0" sz="1600" spc="40">
                <a:latin typeface="Arial MT"/>
                <a:cs typeface="Arial MT"/>
              </a:rPr>
              <a:t> </a:t>
            </a:r>
            <a:r>
              <a:rPr dirty="0" sz="1600" spc="90">
                <a:latin typeface="Arial MT"/>
                <a:cs typeface="Arial MT"/>
              </a:rPr>
              <a:t>por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 spc="50">
                <a:latin typeface="Arial MT"/>
                <a:cs typeface="Arial MT"/>
              </a:rPr>
              <a:t>falta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precisão</a:t>
            </a:r>
            <a:r>
              <a:rPr dirty="0" sz="1600" spc="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nas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porções.</a:t>
            </a:r>
            <a:endParaRPr sz="1600">
              <a:latin typeface="Arial MT"/>
              <a:cs typeface="Arial MT"/>
            </a:endParaRPr>
          </a:p>
          <a:p>
            <a:pPr algn="just" marL="12700" marR="7620">
              <a:lnSpc>
                <a:spcPct val="138100"/>
              </a:lnSpc>
              <a:spcBef>
                <a:spcPts val="35"/>
              </a:spcBef>
            </a:pPr>
            <a:r>
              <a:rPr dirty="0" sz="1600">
                <a:latin typeface="Arial MT"/>
                <a:cs typeface="Arial MT"/>
              </a:rPr>
              <a:t>Uma</a:t>
            </a:r>
            <a:r>
              <a:rPr dirty="0" sz="1600" spc="484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pesquisa</a:t>
            </a:r>
            <a:r>
              <a:rPr dirty="0" sz="1600" spc="490">
                <a:latin typeface="Arial MT"/>
                <a:cs typeface="Arial MT"/>
              </a:rPr>
              <a:t> </a:t>
            </a:r>
            <a:r>
              <a:rPr dirty="0" sz="1600" spc="80">
                <a:latin typeface="Arial MT"/>
                <a:cs typeface="Arial MT"/>
              </a:rPr>
              <a:t>do</a:t>
            </a:r>
            <a:r>
              <a:rPr dirty="0" sz="1600" spc="49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Senado</a:t>
            </a:r>
            <a:r>
              <a:rPr dirty="0" sz="1600" spc="30">
                <a:latin typeface="Arial MT"/>
                <a:cs typeface="Arial MT"/>
              </a:rPr>
              <a:t>  </a:t>
            </a:r>
            <a:r>
              <a:rPr dirty="0" sz="1600" spc="60">
                <a:latin typeface="Arial MT"/>
                <a:cs typeface="Arial MT"/>
              </a:rPr>
              <a:t>afirma</a:t>
            </a:r>
            <a:r>
              <a:rPr dirty="0" sz="1600" spc="484">
                <a:latin typeface="Arial MT"/>
                <a:cs typeface="Arial MT"/>
              </a:rPr>
              <a:t> </a:t>
            </a:r>
            <a:r>
              <a:rPr dirty="0" sz="1600" spc="55">
                <a:latin typeface="Arial MT"/>
                <a:cs typeface="Arial MT"/>
              </a:rPr>
              <a:t>que</a:t>
            </a:r>
            <a:r>
              <a:rPr dirty="0" sz="1600" spc="484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54%</a:t>
            </a:r>
            <a:r>
              <a:rPr dirty="0" sz="1600" spc="49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dos</a:t>
            </a:r>
            <a:r>
              <a:rPr dirty="0" sz="1600" spc="48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brasileiros </a:t>
            </a:r>
            <a:r>
              <a:rPr dirty="0" sz="1600" spc="45">
                <a:latin typeface="Arial MT"/>
                <a:cs typeface="Arial MT"/>
              </a:rPr>
              <a:t>acreditam</a:t>
            </a:r>
            <a:r>
              <a:rPr dirty="0" sz="1600" spc="105">
                <a:latin typeface="Arial MT"/>
                <a:cs typeface="Arial MT"/>
              </a:rPr>
              <a:t> </a:t>
            </a:r>
            <a:r>
              <a:rPr dirty="0" sz="1600" spc="55">
                <a:latin typeface="Arial MT"/>
                <a:cs typeface="Arial MT"/>
              </a:rPr>
              <a:t>que</a:t>
            </a:r>
            <a:r>
              <a:rPr dirty="0" sz="1600" spc="114">
                <a:latin typeface="Arial MT"/>
                <a:cs typeface="Arial MT"/>
              </a:rPr>
              <a:t> </a:t>
            </a:r>
            <a:r>
              <a:rPr dirty="0" sz="1600" spc="75">
                <a:latin typeface="Arial MT"/>
                <a:cs typeface="Arial MT"/>
              </a:rPr>
              <a:t>uma</a:t>
            </a:r>
            <a:r>
              <a:rPr dirty="0" sz="1600" spc="105">
                <a:latin typeface="Arial MT"/>
                <a:cs typeface="Arial MT"/>
              </a:rPr>
              <a:t> </a:t>
            </a:r>
            <a:r>
              <a:rPr dirty="0" sz="1600" spc="50">
                <a:latin typeface="Arial MT"/>
                <a:cs typeface="Arial MT"/>
              </a:rPr>
              <a:t>jornada</a:t>
            </a:r>
            <a:r>
              <a:rPr dirty="0" sz="1600" spc="1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114">
                <a:latin typeface="Arial MT"/>
                <a:cs typeface="Arial MT"/>
              </a:rPr>
              <a:t> </a:t>
            </a:r>
            <a:r>
              <a:rPr dirty="0" sz="1600" spc="60">
                <a:latin typeface="Arial MT"/>
                <a:cs typeface="Arial MT"/>
              </a:rPr>
              <a:t>trabalho</a:t>
            </a:r>
            <a:r>
              <a:rPr dirty="0" sz="1600" spc="130">
                <a:latin typeface="Arial MT"/>
                <a:cs typeface="Arial MT"/>
              </a:rPr>
              <a:t> </a:t>
            </a:r>
            <a:r>
              <a:rPr dirty="0" sz="1600" spc="80">
                <a:latin typeface="Arial MT"/>
                <a:cs typeface="Arial MT"/>
              </a:rPr>
              <a:t>menor</a:t>
            </a:r>
            <a:r>
              <a:rPr dirty="0" sz="1600" spc="110">
                <a:latin typeface="Arial MT"/>
                <a:cs typeface="Arial MT"/>
              </a:rPr>
              <a:t> </a:t>
            </a:r>
            <a:r>
              <a:rPr dirty="0" sz="1600" spc="60">
                <a:latin typeface="Arial MT"/>
                <a:cs typeface="Arial MT"/>
              </a:rPr>
              <a:t>melhoraria</a:t>
            </a:r>
            <a:r>
              <a:rPr dirty="0" sz="1600" spc="110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8186" y="7669565"/>
            <a:ext cx="5888355" cy="6220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4130" marR="5080">
              <a:lnSpc>
                <a:spcPct val="140000"/>
              </a:lnSpc>
              <a:spcBef>
                <a:spcPts val="95"/>
              </a:spcBef>
            </a:pPr>
            <a:r>
              <a:rPr dirty="0" sz="1600" spc="45">
                <a:latin typeface="Arial MT"/>
                <a:cs typeface="Arial MT"/>
              </a:rPr>
              <a:t>qualidade</a:t>
            </a:r>
            <a:r>
              <a:rPr dirty="0" sz="1600" spc="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vida,</a:t>
            </a:r>
            <a:r>
              <a:rPr dirty="0" sz="1600" spc="25">
                <a:latin typeface="Arial MT"/>
                <a:cs typeface="Arial MT"/>
              </a:rPr>
              <a:t> </a:t>
            </a:r>
            <a:r>
              <a:rPr dirty="0" sz="1600" spc="75">
                <a:latin typeface="Arial MT"/>
                <a:cs typeface="Arial MT"/>
              </a:rPr>
              <a:t>o</a:t>
            </a:r>
            <a:r>
              <a:rPr dirty="0" sz="1600" spc="30">
                <a:latin typeface="Arial MT"/>
                <a:cs typeface="Arial MT"/>
              </a:rPr>
              <a:t> </a:t>
            </a:r>
            <a:r>
              <a:rPr dirty="0" sz="1600" spc="45">
                <a:latin typeface="Arial MT"/>
                <a:cs typeface="Arial MT"/>
              </a:rPr>
              <a:t>brasileiro</a:t>
            </a:r>
            <a:r>
              <a:rPr dirty="0" sz="1600" spc="35">
                <a:latin typeface="Arial MT"/>
                <a:cs typeface="Arial MT"/>
              </a:rPr>
              <a:t> </a:t>
            </a:r>
            <a:r>
              <a:rPr dirty="0" sz="1600" spc="70">
                <a:latin typeface="Arial MT"/>
                <a:cs typeface="Arial MT"/>
              </a:rPr>
              <a:t>médio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 spc="50">
                <a:latin typeface="Arial MT"/>
                <a:cs typeface="Arial MT"/>
              </a:rPr>
              <a:t>trabalha </a:t>
            </a:r>
            <a:r>
              <a:rPr dirty="0" sz="1600">
                <a:latin typeface="Arial MT"/>
                <a:cs typeface="Arial MT"/>
              </a:rPr>
              <a:t>8</a:t>
            </a:r>
            <a:r>
              <a:rPr dirty="0" sz="1600" spc="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horas</a:t>
            </a:r>
            <a:r>
              <a:rPr dirty="0" sz="1600" spc="25">
                <a:latin typeface="Arial MT"/>
                <a:cs typeface="Arial MT"/>
              </a:rPr>
              <a:t> </a:t>
            </a:r>
            <a:r>
              <a:rPr dirty="0" sz="1600" spc="90">
                <a:latin typeface="Arial MT"/>
                <a:cs typeface="Arial MT"/>
              </a:rPr>
              <a:t>por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dia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1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</a:t>
            </a:r>
            <a:r>
              <a:rPr dirty="0" sz="1600" spc="1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população</a:t>
            </a:r>
            <a:r>
              <a:rPr dirty="0" sz="1600" spc="1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1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pets</a:t>
            </a:r>
            <a:r>
              <a:rPr dirty="0" sz="1600" spc="150">
                <a:latin typeface="Arial MT"/>
                <a:cs typeface="Arial MT"/>
              </a:rPr>
              <a:t> </a:t>
            </a:r>
            <a:r>
              <a:rPr dirty="0" sz="1600" spc="80">
                <a:latin typeface="Arial MT"/>
                <a:cs typeface="Arial MT"/>
              </a:rPr>
              <a:t>no</a:t>
            </a:r>
            <a:r>
              <a:rPr dirty="0" sz="1600" spc="1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Brasil</a:t>
            </a:r>
            <a:r>
              <a:rPr dirty="0" sz="1600" spc="1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está</a:t>
            </a:r>
            <a:r>
              <a:rPr dirty="0" sz="1600" spc="145">
                <a:latin typeface="Arial MT"/>
                <a:cs typeface="Arial MT"/>
              </a:rPr>
              <a:t> </a:t>
            </a:r>
            <a:r>
              <a:rPr dirty="0" sz="1600" spc="80">
                <a:latin typeface="Arial MT"/>
                <a:cs typeface="Arial MT"/>
              </a:rPr>
              <a:t>em</a:t>
            </a:r>
            <a:r>
              <a:rPr dirty="0" sz="1600" spc="1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seu</a:t>
            </a:r>
            <a:r>
              <a:rPr dirty="0" sz="1600" spc="1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auge</a:t>
            </a:r>
            <a:r>
              <a:rPr dirty="0" sz="1600" spc="125">
                <a:latin typeface="Arial MT"/>
                <a:cs typeface="Arial MT"/>
              </a:rPr>
              <a:t> </a:t>
            </a:r>
            <a:r>
              <a:rPr dirty="0" sz="1600" spc="65">
                <a:latin typeface="Arial MT"/>
                <a:cs typeface="Arial MT"/>
              </a:rPr>
              <a:t>entre</a:t>
            </a:r>
            <a:r>
              <a:rPr dirty="0" sz="1600" spc="13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150/ </a:t>
            </a:r>
            <a:r>
              <a:rPr dirty="0" sz="1600">
                <a:latin typeface="Arial MT"/>
                <a:cs typeface="Arial MT"/>
              </a:rPr>
              <a:t>160</a:t>
            </a:r>
            <a:r>
              <a:rPr dirty="0" sz="1600" spc="320">
                <a:latin typeface="Arial MT"/>
                <a:cs typeface="Arial MT"/>
              </a:rPr>
              <a:t> </a:t>
            </a:r>
            <a:r>
              <a:rPr dirty="0" sz="1600" spc="50">
                <a:latin typeface="Arial MT"/>
                <a:cs typeface="Arial MT"/>
              </a:rPr>
              <a:t>milhões</a:t>
            </a:r>
            <a:r>
              <a:rPr dirty="0" sz="1600" spc="310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(ABINPET),</a:t>
            </a:r>
            <a:r>
              <a:rPr dirty="0" sz="1600" spc="3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</a:t>
            </a:r>
            <a:r>
              <a:rPr dirty="0" sz="1600" spc="310">
                <a:latin typeface="Arial MT"/>
                <a:cs typeface="Arial MT"/>
              </a:rPr>
              <a:t> </a:t>
            </a:r>
            <a:r>
              <a:rPr dirty="0" sz="1600" spc="45">
                <a:latin typeface="Arial MT"/>
                <a:cs typeface="Arial MT"/>
              </a:rPr>
              <a:t>impossibilidade</a:t>
            </a:r>
            <a:r>
              <a:rPr dirty="0" sz="1600" spc="3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31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cuidar</a:t>
            </a:r>
            <a:r>
              <a:rPr dirty="0" sz="1600" spc="305">
                <a:latin typeface="Arial MT"/>
                <a:cs typeface="Arial MT"/>
              </a:rPr>
              <a:t> </a:t>
            </a:r>
            <a:r>
              <a:rPr dirty="0" sz="1600" spc="80">
                <a:latin typeface="Arial MT"/>
                <a:cs typeface="Arial MT"/>
              </a:rPr>
              <a:t>do</a:t>
            </a:r>
            <a:r>
              <a:rPr dirty="0" sz="1600" spc="31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seu </a:t>
            </a:r>
            <a:r>
              <a:rPr dirty="0" sz="1600" spc="65">
                <a:latin typeface="Arial MT"/>
                <a:cs typeface="Arial MT"/>
              </a:rPr>
              <a:t>pet</a:t>
            </a:r>
            <a:r>
              <a:rPr dirty="0" sz="1600" spc="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acaba</a:t>
            </a:r>
            <a:r>
              <a:rPr dirty="0" sz="1600" spc="40">
                <a:latin typeface="Arial MT"/>
                <a:cs typeface="Arial MT"/>
              </a:rPr>
              <a:t> </a:t>
            </a:r>
            <a:r>
              <a:rPr dirty="0" sz="1600" spc="90">
                <a:latin typeface="Arial MT"/>
                <a:cs typeface="Arial MT"/>
              </a:rPr>
              <a:t>por</a:t>
            </a:r>
            <a:r>
              <a:rPr dirty="0" sz="1600" spc="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gerar</a:t>
            </a:r>
            <a:r>
              <a:rPr dirty="0" sz="1600" spc="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ansiedade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nos</a:t>
            </a:r>
            <a:r>
              <a:rPr dirty="0" sz="1600" spc="30">
                <a:latin typeface="Arial MT"/>
                <a:cs typeface="Arial MT"/>
              </a:rPr>
              <a:t> </a:t>
            </a:r>
            <a:r>
              <a:rPr dirty="0" sz="1600" spc="60">
                <a:latin typeface="Arial MT"/>
                <a:cs typeface="Arial MT"/>
              </a:rPr>
              <a:t>tutores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animais.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600">
              <a:latin typeface="Arial MT"/>
              <a:cs typeface="Arial MT"/>
            </a:endParaRPr>
          </a:p>
          <a:p>
            <a:pPr algn="ctr" marR="3810">
              <a:lnSpc>
                <a:spcPct val="100000"/>
              </a:lnSpc>
            </a:pPr>
            <a:r>
              <a:rPr dirty="0" sz="2200" spc="-190">
                <a:latin typeface="Arial Black"/>
                <a:cs typeface="Arial Black"/>
              </a:rPr>
              <a:t>A</a:t>
            </a:r>
            <a:r>
              <a:rPr dirty="0" sz="2200" spc="-180">
                <a:latin typeface="Arial Black"/>
                <a:cs typeface="Arial Black"/>
              </a:rPr>
              <a:t> </a:t>
            </a:r>
            <a:r>
              <a:rPr dirty="0" sz="2200" spc="-90">
                <a:latin typeface="Arial Black"/>
                <a:cs typeface="Arial Black"/>
              </a:rPr>
              <a:t>PROPOSTA</a:t>
            </a:r>
            <a:endParaRPr sz="2200">
              <a:latin typeface="Arial Black"/>
              <a:cs typeface="Arial Black"/>
            </a:endParaRPr>
          </a:p>
          <a:p>
            <a:pPr algn="just" marL="12700" marR="15875">
              <a:lnSpc>
                <a:spcPct val="139700"/>
              </a:lnSpc>
              <a:spcBef>
                <a:spcPts val="215"/>
              </a:spcBef>
            </a:pPr>
            <a:r>
              <a:rPr dirty="0" sz="1600">
                <a:latin typeface="Arial MT"/>
                <a:cs typeface="Arial MT"/>
              </a:rPr>
              <a:t>Tendo</a:t>
            </a:r>
            <a:r>
              <a:rPr dirty="0" sz="1600" spc="3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isso</a:t>
            </a:r>
            <a:r>
              <a:rPr dirty="0" sz="1600" spc="355">
                <a:latin typeface="Arial MT"/>
                <a:cs typeface="Arial MT"/>
              </a:rPr>
              <a:t> </a:t>
            </a:r>
            <a:r>
              <a:rPr dirty="0" sz="1600" spc="80">
                <a:latin typeface="Arial MT"/>
                <a:cs typeface="Arial MT"/>
              </a:rPr>
              <a:t>em</a:t>
            </a:r>
            <a:r>
              <a:rPr dirty="0" sz="1600" spc="3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vista,</a:t>
            </a:r>
            <a:r>
              <a:rPr dirty="0" sz="1600" spc="3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além</a:t>
            </a:r>
            <a:r>
              <a:rPr dirty="0" sz="1600" spc="3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das</a:t>
            </a:r>
            <a:r>
              <a:rPr dirty="0" sz="1600" spc="3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soluções</a:t>
            </a:r>
            <a:r>
              <a:rPr dirty="0" sz="1600" spc="3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atuais</a:t>
            </a:r>
            <a:r>
              <a:rPr dirty="0" sz="1600" spc="330">
                <a:latin typeface="Arial MT"/>
                <a:cs typeface="Arial MT"/>
              </a:rPr>
              <a:t> </a:t>
            </a:r>
            <a:r>
              <a:rPr dirty="0" sz="1600" spc="55">
                <a:latin typeface="Arial MT"/>
                <a:cs typeface="Arial MT"/>
              </a:rPr>
              <a:t>que</a:t>
            </a:r>
            <a:r>
              <a:rPr dirty="0" sz="1600" spc="340">
                <a:latin typeface="Arial MT"/>
                <a:cs typeface="Arial MT"/>
              </a:rPr>
              <a:t>  </a:t>
            </a:r>
            <a:r>
              <a:rPr dirty="0" sz="1600" spc="45">
                <a:latin typeface="Arial MT"/>
                <a:cs typeface="Arial MT"/>
              </a:rPr>
              <a:t>muitas </a:t>
            </a:r>
            <a:r>
              <a:rPr dirty="0" sz="1600">
                <a:latin typeface="Arial MT"/>
                <a:cs typeface="Arial MT"/>
              </a:rPr>
              <a:t>vezes</a:t>
            </a:r>
            <a:r>
              <a:rPr dirty="0" sz="1600" spc="1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pecam</a:t>
            </a:r>
            <a:r>
              <a:rPr dirty="0" sz="1600" spc="1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pela</a:t>
            </a:r>
            <a:r>
              <a:rPr dirty="0" sz="1600" spc="1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falta</a:t>
            </a:r>
            <a:r>
              <a:rPr dirty="0" sz="1600" spc="1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1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precisão,</a:t>
            </a:r>
            <a:r>
              <a:rPr dirty="0" sz="1600" spc="1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serem</a:t>
            </a:r>
            <a:r>
              <a:rPr dirty="0" sz="1600" spc="160">
                <a:latin typeface="Arial MT"/>
                <a:cs typeface="Arial MT"/>
              </a:rPr>
              <a:t> </a:t>
            </a:r>
            <a:r>
              <a:rPr dirty="0" sz="1600" spc="55">
                <a:latin typeface="Arial MT"/>
                <a:cs typeface="Arial MT"/>
              </a:rPr>
              <a:t>pouco</a:t>
            </a:r>
            <a:r>
              <a:rPr dirty="0" sz="1600" spc="1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precisas</a:t>
            </a:r>
            <a:r>
              <a:rPr dirty="0" sz="1600" spc="175">
                <a:latin typeface="Arial MT"/>
                <a:cs typeface="Arial MT"/>
              </a:rPr>
              <a:t> </a:t>
            </a:r>
            <a:r>
              <a:rPr dirty="0" sz="1600" spc="65">
                <a:latin typeface="Arial MT"/>
                <a:cs typeface="Arial MT"/>
              </a:rPr>
              <a:t>ou </a:t>
            </a:r>
            <a:r>
              <a:rPr dirty="0" sz="1600" spc="70">
                <a:latin typeface="Arial MT"/>
                <a:cs typeface="Arial MT"/>
              </a:rPr>
              <a:t>tendo</a:t>
            </a:r>
            <a:r>
              <a:rPr dirty="0" sz="1600" spc="20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altos</a:t>
            </a:r>
            <a:r>
              <a:rPr dirty="0" sz="1600" spc="204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custos</a:t>
            </a:r>
            <a:r>
              <a:rPr dirty="0" sz="1600" spc="19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210">
                <a:latin typeface="Arial MT"/>
                <a:cs typeface="Arial MT"/>
              </a:rPr>
              <a:t> </a:t>
            </a:r>
            <a:r>
              <a:rPr dirty="0" sz="1600" spc="45">
                <a:latin typeface="Arial MT"/>
                <a:cs typeface="Arial MT"/>
              </a:rPr>
              <a:t>importação,</a:t>
            </a:r>
            <a:r>
              <a:rPr dirty="0" sz="1600" spc="2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surgimos</a:t>
            </a:r>
            <a:r>
              <a:rPr dirty="0" sz="1600" spc="225">
                <a:latin typeface="Arial MT"/>
                <a:cs typeface="Arial MT"/>
              </a:rPr>
              <a:t> </a:t>
            </a:r>
            <a:r>
              <a:rPr dirty="0" sz="1600" spc="60">
                <a:latin typeface="Arial MT"/>
                <a:cs typeface="Arial MT"/>
              </a:rPr>
              <a:t>com</a:t>
            </a:r>
            <a:r>
              <a:rPr dirty="0" sz="1600" spc="185">
                <a:latin typeface="Arial MT"/>
                <a:cs typeface="Arial MT"/>
              </a:rPr>
              <a:t> </a:t>
            </a:r>
            <a:r>
              <a:rPr dirty="0" sz="1600" spc="75">
                <a:latin typeface="Arial MT"/>
                <a:cs typeface="Arial MT"/>
              </a:rPr>
              <a:t>uma</a:t>
            </a:r>
            <a:r>
              <a:rPr dirty="0" sz="1600" spc="19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opção </a:t>
            </a:r>
            <a:r>
              <a:rPr dirty="0" sz="1600" spc="55">
                <a:latin typeface="Arial MT"/>
                <a:cs typeface="Arial MT"/>
              </a:rPr>
              <a:t>que</a:t>
            </a:r>
            <a:r>
              <a:rPr dirty="0" sz="1600" spc="2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cabe</a:t>
            </a:r>
            <a:r>
              <a:rPr dirty="0" sz="1600" spc="229">
                <a:latin typeface="Arial MT"/>
                <a:cs typeface="Arial MT"/>
              </a:rPr>
              <a:t> </a:t>
            </a:r>
            <a:r>
              <a:rPr dirty="0" sz="1600" spc="70">
                <a:latin typeface="Arial MT"/>
                <a:cs typeface="Arial MT"/>
              </a:rPr>
              <a:t>melhor</a:t>
            </a:r>
            <a:r>
              <a:rPr dirty="0" sz="1600" spc="225">
                <a:latin typeface="Arial MT"/>
                <a:cs typeface="Arial MT"/>
              </a:rPr>
              <a:t> </a:t>
            </a:r>
            <a:r>
              <a:rPr dirty="0" sz="1600" spc="80">
                <a:latin typeface="Arial MT"/>
                <a:cs typeface="Arial MT"/>
              </a:rPr>
              <a:t>no</a:t>
            </a:r>
            <a:r>
              <a:rPr dirty="0" sz="1600" spc="2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cenário</a:t>
            </a:r>
            <a:r>
              <a:rPr dirty="0" sz="1600" spc="2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Brasileiro.</a:t>
            </a:r>
            <a:r>
              <a:rPr dirty="0" sz="1600" spc="225">
                <a:latin typeface="Arial MT"/>
                <a:cs typeface="Arial MT"/>
              </a:rPr>
              <a:t>  </a:t>
            </a:r>
            <a:r>
              <a:rPr dirty="0" sz="1600">
                <a:latin typeface="Arial MT"/>
                <a:cs typeface="Arial MT"/>
              </a:rPr>
              <a:t>Pesquisando</a:t>
            </a:r>
            <a:r>
              <a:rPr dirty="0" sz="1600" spc="210">
                <a:latin typeface="Arial MT"/>
                <a:cs typeface="Arial MT"/>
              </a:rPr>
              <a:t> </a:t>
            </a:r>
            <a:r>
              <a:rPr dirty="0" sz="1600" spc="75">
                <a:latin typeface="Arial MT"/>
                <a:cs typeface="Arial MT"/>
              </a:rPr>
              <a:t>o</a:t>
            </a:r>
            <a:r>
              <a:rPr dirty="0" sz="1600" spc="2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valor </a:t>
            </a:r>
            <a:r>
              <a:rPr dirty="0" sz="1600" spc="70">
                <a:latin typeface="Arial MT"/>
                <a:cs typeface="Arial MT"/>
              </a:rPr>
              <a:t>médio</a:t>
            </a:r>
            <a:r>
              <a:rPr dirty="0" sz="1600" spc="229">
                <a:latin typeface="Arial MT"/>
                <a:cs typeface="Arial MT"/>
              </a:rPr>
              <a:t> </a:t>
            </a:r>
            <a:r>
              <a:rPr dirty="0" sz="1600" spc="55">
                <a:latin typeface="Arial MT"/>
                <a:cs typeface="Arial MT"/>
              </a:rPr>
              <a:t>que</a:t>
            </a:r>
            <a:r>
              <a:rPr dirty="0" sz="1600" spc="245">
                <a:latin typeface="Arial MT"/>
                <a:cs typeface="Arial MT"/>
              </a:rPr>
              <a:t> </a:t>
            </a:r>
            <a:r>
              <a:rPr dirty="0" sz="1600" spc="75">
                <a:latin typeface="Arial MT"/>
                <a:cs typeface="Arial MT"/>
              </a:rPr>
              <a:t>o</a:t>
            </a:r>
            <a:r>
              <a:rPr dirty="0" sz="1600" spc="245">
                <a:latin typeface="Arial MT"/>
                <a:cs typeface="Arial MT"/>
              </a:rPr>
              <a:t> </a:t>
            </a:r>
            <a:r>
              <a:rPr dirty="0" sz="1600" spc="45">
                <a:latin typeface="Arial MT"/>
                <a:cs typeface="Arial MT"/>
              </a:rPr>
              <a:t>brasileiro</a:t>
            </a:r>
            <a:r>
              <a:rPr dirty="0" sz="1600" spc="2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gasta</a:t>
            </a:r>
            <a:r>
              <a:rPr dirty="0" sz="1600" spc="235">
                <a:latin typeface="Arial MT"/>
                <a:cs typeface="Arial MT"/>
              </a:rPr>
              <a:t> </a:t>
            </a:r>
            <a:r>
              <a:rPr dirty="0" sz="1600" spc="60">
                <a:latin typeface="Arial MT"/>
                <a:cs typeface="Arial MT"/>
              </a:rPr>
              <a:t>com</a:t>
            </a:r>
            <a:r>
              <a:rPr dirty="0" sz="1600" spc="2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seus</a:t>
            </a:r>
            <a:r>
              <a:rPr dirty="0" sz="1600" spc="2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pets</a:t>
            </a:r>
            <a:r>
              <a:rPr dirty="0" sz="1600" spc="2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245">
                <a:latin typeface="Arial MT"/>
                <a:cs typeface="Arial MT"/>
              </a:rPr>
              <a:t> </a:t>
            </a:r>
            <a:r>
              <a:rPr dirty="0" sz="1600" spc="55">
                <a:latin typeface="Arial MT"/>
                <a:cs typeface="Arial MT"/>
              </a:rPr>
              <a:t>como</a:t>
            </a:r>
            <a:r>
              <a:rPr dirty="0" sz="1600" spc="2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faltava </a:t>
            </a:r>
            <a:r>
              <a:rPr dirty="0" sz="1600" spc="75">
                <a:latin typeface="Arial MT"/>
                <a:cs typeface="Arial MT"/>
              </a:rPr>
              <a:t>uma</a:t>
            </a:r>
            <a:r>
              <a:rPr dirty="0" sz="1600" spc="365">
                <a:latin typeface="Arial MT"/>
                <a:cs typeface="Arial MT"/>
              </a:rPr>
              <a:t>  </a:t>
            </a:r>
            <a:r>
              <a:rPr dirty="0" sz="1600">
                <a:latin typeface="Arial MT"/>
                <a:cs typeface="Arial MT"/>
              </a:rPr>
              <a:t>opção</a:t>
            </a:r>
            <a:r>
              <a:rPr dirty="0" sz="1600" spc="380">
                <a:latin typeface="Arial MT"/>
                <a:cs typeface="Arial MT"/>
              </a:rPr>
              <a:t>  </a:t>
            </a:r>
            <a:r>
              <a:rPr dirty="0" sz="1600">
                <a:latin typeface="Arial MT"/>
                <a:cs typeface="Arial MT"/>
              </a:rPr>
              <a:t>localizada</a:t>
            </a:r>
            <a:r>
              <a:rPr dirty="0" sz="1600" spc="380">
                <a:latin typeface="Arial MT"/>
                <a:cs typeface="Arial MT"/>
              </a:rPr>
              <a:t> 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380">
                <a:latin typeface="Arial MT"/>
                <a:cs typeface="Arial MT"/>
              </a:rPr>
              <a:t>  </a:t>
            </a:r>
            <a:r>
              <a:rPr dirty="0" sz="1600">
                <a:latin typeface="Arial MT"/>
                <a:cs typeface="Arial MT"/>
              </a:rPr>
              <a:t>software,</a:t>
            </a:r>
            <a:r>
              <a:rPr dirty="0" sz="1600" spc="370">
                <a:latin typeface="Arial MT"/>
                <a:cs typeface="Arial MT"/>
              </a:rPr>
              <a:t>  </a:t>
            </a:r>
            <a:r>
              <a:rPr dirty="0" sz="1600" spc="75">
                <a:latin typeface="Arial MT"/>
                <a:cs typeface="Arial MT"/>
              </a:rPr>
              <a:t>o</a:t>
            </a:r>
            <a:r>
              <a:rPr dirty="0" sz="1600" spc="375">
                <a:latin typeface="Arial MT"/>
                <a:cs typeface="Arial MT"/>
              </a:rPr>
              <a:t>  </a:t>
            </a:r>
            <a:r>
              <a:rPr dirty="0" sz="1600">
                <a:latin typeface="Arial MT"/>
                <a:cs typeface="Arial MT"/>
              </a:rPr>
              <a:t>nosso</a:t>
            </a:r>
            <a:r>
              <a:rPr dirty="0" sz="1600" spc="385">
                <a:latin typeface="Arial MT"/>
                <a:cs typeface="Arial MT"/>
              </a:rPr>
              <a:t>  </a:t>
            </a:r>
            <a:r>
              <a:rPr dirty="0" sz="1600" spc="80">
                <a:latin typeface="Arial MT"/>
                <a:cs typeface="Arial MT"/>
              </a:rPr>
              <a:t>produto </a:t>
            </a:r>
            <a:r>
              <a:rPr dirty="0" sz="1600" spc="-85">
                <a:latin typeface="Arial Black"/>
                <a:cs typeface="Arial Black"/>
              </a:rPr>
              <a:t>PetButler</a:t>
            </a:r>
            <a:r>
              <a:rPr dirty="0" sz="1600" spc="-50">
                <a:latin typeface="Arial Black"/>
                <a:cs typeface="Arial Black"/>
              </a:rPr>
              <a:t> </a:t>
            </a:r>
            <a:r>
              <a:rPr dirty="0" sz="1600">
                <a:latin typeface="Arial MT"/>
                <a:cs typeface="Arial MT"/>
              </a:rPr>
              <a:t>atinge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esses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problemas.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600">
              <a:latin typeface="Arial MT"/>
              <a:cs typeface="Arial MT"/>
            </a:endParaRPr>
          </a:p>
          <a:p>
            <a:pPr algn="just" marL="12700" marR="19050">
              <a:lnSpc>
                <a:spcPct val="140000"/>
              </a:lnSpc>
            </a:pPr>
            <a:r>
              <a:rPr dirty="0" sz="1600">
                <a:latin typeface="Arial MT"/>
                <a:cs typeface="Arial MT"/>
              </a:rPr>
              <a:t>Nossa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 spc="55">
                <a:latin typeface="Arial MT"/>
                <a:cs typeface="Arial MT"/>
              </a:rPr>
              <a:t>proposta</a:t>
            </a:r>
            <a:r>
              <a:rPr dirty="0" sz="1600" spc="9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é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 spc="114">
                <a:latin typeface="Arial MT"/>
                <a:cs typeface="Arial MT"/>
              </a:rPr>
              <a:t>um</a:t>
            </a:r>
            <a:r>
              <a:rPr dirty="0" sz="1600" spc="80">
                <a:latin typeface="Arial MT"/>
                <a:cs typeface="Arial MT"/>
              </a:rPr>
              <a:t> </a:t>
            </a:r>
            <a:r>
              <a:rPr dirty="0" sz="1600" spc="60">
                <a:latin typeface="Arial MT"/>
                <a:cs typeface="Arial MT"/>
              </a:rPr>
              <a:t>alimentador</a:t>
            </a:r>
            <a:r>
              <a:rPr dirty="0" sz="1600" spc="90">
                <a:latin typeface="Arial MT"/>
                <a:cs typeface="Arial MT"/>
              </a:rPr>
              <a:t> </a:t>
            </a:r>
            <a:r>
              <a:rPr dirty="0" sz="1600" spc="45">
                <a:latin typeface="Arial MT"/>
                <a:cs typeface="Arial MT"/>
              </a:rPr>
              <a:t>inteligente</a:t>
            </a:r>
            <a:r>
              <a:rPr dirty="0" sz="1600" spc="10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programável, </a:t>
            </a:r>
            <a:r>
              <a:rPr dirty="0" sz="1600" spc="55">
                <a:latin typeface="Arial MT"/>
                <a:cs typeface="Arial MT"/>
              </a:rPr>
              <a:t>que</a:t>
            </a:r>
            <a:r>
              <a:rPr dirty="0" sz="1600" spc="40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visa</a:t>
            </a:r>
            <a:r>
              <a:rPr dirty="0" sz="1600" spc="420">
                <a:latin typeface="Arial MT"/>
                <a:cs typeface="Arial MT"/>
              </a:rPr>
              <a:t> </a:t>
            </a:r>
            <a:r>
              <a:rPr dirty="0" sz="1600" spc="80">
                <a:latin typeface="Arial MT"/>
                <a:cs typeface="Arial MT"/>
              </a:rPr>
              <a:t>em</a:t>
            </a:r>
            <a:r>
              <a:rPr dirty="0" sz="1600" spc="39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conectar</a:t>
            </a:r>
            <a:r>
              <a:rPr dirty="0" sz="1600" spc="400">
                <a:latin typeface="Arial MT"/>
                <a:cs typeface="Arial MT"/>
              </a:rPr>
              <a:t> </a:t>
            </a:r>
            <a:r>
              <a:rPr dirty="0" sz="1600" spc="75">
                <a:latin typeface="Arial MT"/>
                <a:cs typeface="Arial MT"/>
              </a:rPr>
              <a:t>o</a:t>
            </a:r>
            <a:r>
              <a:rPr dirty="0" sz="1600" spc="409">
                <a:latin typeface="Arial MT"/>
                <a:cs typeface="Arial MT"/>
              </a:rPr>
              <a:t> </a:t>
            </a:r>
            <a:r>
              <a:rPr dirty="0" sz="1600" spc="95">
                <a:latin typeface="Arial MT"/>
                <a:cs typeface="Arial MT"/>
              </a:rPr>
              <a:t>tutor</a:t>
            </a:r>
            <a:r>
              <a:rPr dirty="0" sz="1600" spc="409">
                <a:latin typeface="Arial MT"/>
                <a:cs typeface="Arial MT"/>
              </a:rPr>
              <a:t> </a:t>
            </a:r>
            <a:r>
              <a:rPr dirty="0" sz="1600" spc="60">
                <a:latin typeface="Arial MT"/>
                <a:cs typeface="Arial MT"/>
              </a:rPr>
              <a:t>com</a:t>
            </a:r>
            <a:r>
              <a:rPr dirty="0" sz="1600" spc="3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seu</a:t>
            </a:r>
            <a:r>
              <a:rPr dirty="0" sz="1600" spc="390">
                <a:latin typeface="Arial MT"/>
                <a:cs typeface="Arial MT"/>
              </a:rPr>
              <a:t> </a:t>
            </a:r>
            <a:r>
              <a:rPr dirty="0" sz="1600" spc="65">
                <a:latin typeface="Arial MT"/>
                <a:cs typeface="Arial MT"/>
              </a:rPr>
              <a:t>pet</a:t>
            </a:r>
            <a:r>
              <a:rPr dirty="0" sz="1600" spc="39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atráves</a:t>
            </a:r>
            <a:r>
              <a:rPr dirty="0" sz="1600" spc="4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409">
                <a:latin typeface="Arial MT"/>
                <a:cs typeface="Arial MT"/>
              </a:rPr>
              <a:t> </a:t>
            </a:r>
            <a:r>
              <a:rPr dirty="0" sz="1600" spc="85">
                <a:latin typeface="Arial MT"/>
                <a:cs typeface="Arial MT"/>
              </a:rPr>
              <a:t>um </a:t>
            </a:r>
            <a:r>
              <a:rPr dirty="0" sz="1600">
                <a:latin typeface="Arial MT"/>
                <a:cs typeface="Arial MT"/>
              </a:rPr>
              <a:t>ecossistema</a:t>
            </a:r>
            <a:r>
              <a:rPr dirty="0" sz="1600" spc="3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3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site</a:t>
            </a:r>
            <a:r>
              <a:rPr dirty="0" sz="1600" spc="3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3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aplicativo</a:t>
            </a:r>
            <a:r>
              <a:rPr dirty="0" sz="1600" spc="3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,</a:t>
            </a:r>
            <a:r>
              <a:rPr dirty="0" sz="1600" spc="350">
                <a:latin typeface="Arial MT"/>
                <a:cs typeface="Arial MT"/>
              </a:rPr>
              <a:t> </a:t>
            </a:r>
            <a:r>
              <a:rPr dirty="0" sz="1600" spc="55">
                <a:latin typeface="Arial MT"/>
                <a:cs typeface="Arial MT"/>
              </a:rPr>
              <a:t>controlado</a:t>
            </a:r>
            <a:r>
              <a:rPr dirty="0" sz="1600" spc="3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</a:t>
            </a:r>
            <a:r>
              <a:rPr dirty="0" sz="1600" spc="3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distância,</a:t>
            </a:r>
            <a:r>
              <a:rPr dirty="0" sz="1600" spc="34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de </a:t>
            </a:r>
            <a:r>
              <a:rPr dirty="0" sz="1600">
                <a:latin typeface="Arial MT"/>
                <a:cs typeface="Arial MT"/>
              </a:rPr>
              <a:t>fácil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uso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55">
                <a:latin typeface="Arial MT"/>
                <a:cs typeface="Arial MT"/>
              </a:rPr>
              <a:t> que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 spc="50">
                <a:latin typeface="Arial MT"/>
                <a:cs typeface="Arial MT"/>
              </a:rPr>
              <a:t>irá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trazer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mais</a:t>
            </a:r>
            <a:r>
              <a:rPr dirty="0" sz="1600" spc="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segurança</a:t>
            </a:r>
            <a:r>
              <a:rPr dirty="0" sz="1600" spc="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 spc="70">
                <a:latin typeface="Arial MT"/>
                <a:cs typeface="Arial MT"/>
              </a:rPr>
              <a:t>rotina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para</a:t>
            </a:r>
            <a:r>
              <a:rPr dirty="0" sz="1600" spc="7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ambos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11920" y="18392361"/>
            <a:ext cx="7649209" cy="1010285"/>
          </a:xfrm>
          <a:prstGeom prst="rect">
            <a:avLst/>
          </a:prstGeom>
        </p:spPr>
        <p:txBody>
          <a:bodyPr wrap="square" lIns="0" tIns="15430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215"/>
              </a:spcBef>
            </a:pPr>
            <a:r>
              <a:rPr dirty="0" sz="2300" spc="-215">
                <a:latin typeface="Arial Black"/>
                <a:cs typeface="Arial Black"/>
              </a:rPr>
              <a:t>IV</a:t>
            </a:r>
            <a:r>
              <a:rPr dirty="0" sz="2300" spc="-155">
                <a:latin typeface="Arial Black"/>
                <a:cs typeface="Arial Black"/>
              </a:rPr>
              <a:t> </a:t>
            </a:r>
            <a:r>
              <a:rPr dirty="0" sz="2300" spc="-215">
                <a:latin typeface="Arial Black"/>
                <a:cs typeface="Arial Black"/>
              </a:rPr>
              <a:t>SEMANA</a:t>
            </a:r>
            <a:r>
              <a:rPr dirty="0" sz="2300" spc="-155">
                <a:latin typeface="Arial Black"/>
                <a:cs typeface="Arial Black"/>
              </a:rPr>
              <a:t> </a:t>
            </a:r>
            <a:r>
              <a:rPr dirty="0" sz="2300" spc="-290">
                <a:latin typeface="Arial Black"/>
                <a:cs typeface="Arial Black"/>
              </a:rPr>
              <a:t>FECAP</a:t>
            </a:r>
            <a:r>
              <a:rPr dirty="0" sz="2300" spc="-180">
                <a:latin typeface="Arial Black"/>
                <a:cs typeface="Arial Black"/>
              </a:rPr>
              <a:t> </a:t>
            </a:r>
            <a:r>
              <a:rPr dirty="0" sz="2300" spc="-250">
                <a:latin typeface="Arial Black"/>
                <a:cs typeface="Arial Black"/>
              </a:rPr>
              <a:t>DE</a:t>
            </a:r>
            <a:r>
              <a:rPr dirty="0" sz="2300" spc="-165">
                <a:latin typeface="Arial Black"/>
                <a:cs typeface="Arial Black"/>
              </a:rPr>
              <a:t> </a:t>
            </a:r>
            <a:r>
              <a:rPr dirty="0" sz="2300" spc="-215">
                <a:latin typeface="Arial Black"/>
                <a:cs typeface="Arial Black"/>
              </a:rPr>
              <a:t>TECNOLOGIA</a:t>
            </a:r>
            <a:r>
              <a:rPr dirty="0" sz="2300" spc="-155">
                <a:latin typeface="Arial Black"/>
                <a:cs typeface="Arial Black"/>
              </a:rPr>
              <a:t> </a:t>
            </a:r>
            <a:r>
              <a:rPr dirty="0" sz="2300">
                <a:latin typeface="Arial Black"/>
                <a:cs typeface="Arial Black"/>
              </a:rPr>
              <a:t>-</a:t>
            </a:r>
            <a:r>
              <a:rPr dirty="0" sz="2300" spc="-160">
                <a:latin typeface="Arial Black"/>
                <a:cs typeface="Arial Black"/>
              </a:rPr>
              <a:t> </a:t>
            </a:r>
            <a:r>
              <a:rPr dirty="0" sz="2300" spc="-20">
                <a:latin typeface="Arial Black"/>
                <a:cs typeface="Arial Black"/>
              </a:rPr>
              <a:t>2026</a:t>
            </a:r>
            <a:endParaRPr sz="23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1115"/>
              </a:spcBef>
            </a:pPr>
            <a:r>
              <a:rPr dirty="0" sz="2300">
                <a:latin typeface="Arial MT"/>
                <a:cs typeface="Arial MT"/>
              </a:rPr>
              <a:t>Fundação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Escola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 spc="60">
                <a:latin typeface="Arial MT"/>
                <a:cs typeface="Arial MT"/>
              </a:rPr>
              <a:t>de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45">
                <a:latin typeface="Arial MT"/>
                <a:cs typeface="Arial MT"/>
              </a:rPr>
              <a:t>Comércio</a:t>
            </a:r>
            <a:r>
              <a:rPr dirty="0" sz="2300">
                <a:latin typeface="Arial MT"/>
                <a:cs typeface="Arial MT"/>
              </a:rPr>
              <a:t> Álvares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45">
                <a:latin typeface="Arial MT"/>
                <a:cs typeface="Arial MT"/>
              </a:rPr>
              <a:t>Penteado</a:t>
            </a:r>
            <a:r>
              <a:rPr dirty="0" sz="2300" spc="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- </a:t>
            </a:r>
            <a:r>
              <a:rPr dirty="0" sz="2300" spc="-90">
                <a:latin typeface="Arial MT"/>
                <a:cs typeface="Arial MT"/>
              </a:rPr>
              <a:t>FECAP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57750" y="4549281"/>
            <a:ext cx="5566410" cy="18364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22555">
              <a:lnSpc>
                <a:spcPct val="100000"/>
              </a:lnSpc>
              <a:spcBef>
                <a:spcPts val="135"/>
              </a:spcBef>
            </a:pPr>
            <a:r>
              <a:rPr dirty="0" sz="2200" spc="-150">
                <a:latin typeface="Arial Black"/>
                <a:cs typeface="Arial Black"/>
              </a:rPr>
              <a:t>RESULTADOS</a:t>
            </a:r>
            <a:endParaRPr sz="2200">
              <a:latin typeface="Arial Black"/>
              <a:cs typeface="Arial Black"/>
            </a:endParaRPr>
          </a:p>
          <a:p>
            <a:pPr algn="just" marL="12700" marR="5080">
              <a:lnSpc>
                <a:spcPct val="143200"/>
              </a:lnSpc>
              <a:spcBef>
                <a:spcPts val="920"/>
              </a:spcBef>
            </a:pPr>
            <a:r>
              <a:rPr dirty="0" sz="1550">
                <a:latin typeface="Arial MT"/>
                <a:cs typeface="Arial MT"/>
              </a:rPr>
              <a:t>O</a:t>
            </a:r>
            <a:r>
              <a:rPr dirty="0" sz="1550" spc="31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nosso</a:t>
            </a:r>
            <a:r>
              <a:rPr dirty="0" sz="1550" spc="310">
                <a:latin typeface="Arial MT"/>
                <a:cs typeface="Arial MT"/>
              </a:rPr>
              <a:t>  </a:t>
            </a:r>
            <a:r>
              <a:rPr dirty="0" sz="1550" spc="85">
                <a:latin typeface="Arial MT"/>
                <a:cs typeface="Arial MT"/>
              </a:rPr>
              <a:t>produto,</a:t>
            </a:r>
            <a:r>
              <a:rPr dirty="0" sz="1550" spc="310">
                <a:latin typeface="Arial MT"/>
                <a:cs typeface="Arial MT"/>
              </a:rPr>
              <a:t>  </a:t>
            </a:r>
            <a:r>
              <a:rPr dirty="0" sz="1550" spc="75">
                <a:latin typeface="Arial MT"/>
                <a:cs typeface="Arial MT"/>
              </a:rPr>
              <a:t>o</a:t>
            </a:r>
            <a:r>
              <a:rPr dirty="0" sz="1550" spc="315">
                <a:latin typeface="Arial MT"/>
                <a:cs typeface="Arial MT"/>
              </a:rPr>
              <a:t>  </a:t>
            </a:r>
            <a:r>
              <a:rPr dirty="0" sz="1550">
                <a:latin typeface="Arial Black"/>
                <a:cs typeface="Arial Black"/>
              </a:rPr>
              <a:t>PetButler</a:t>
            </a:r>
            <a:r>
              <a:rPr dirty="0" sz="1550" spc="225">
                <a:latin typeface="Arial Black"/>
                <a:cs typeface="Arial Black"/>
              </a:rPr>
              <a:t>  </a:t>
            </a:r>
            <a:r>
              <a:rPr dirty="0" sz="1550">
                <a:latin typeface="Arial MT"/>
                <a:cs typeface="Arial MT"/>
              </a:rPr>
              <a:t>é</a:t>
            </a:r>
            <a:r>
              <a:rPr dirty="0" sz="1550" spc="315">
                <a:latin typeface="Arial MT"/>
                <a:cs typeface="Arial MT"/>
              </a:rPr>
              <a:t>  </a:t>
            </a:r>
            <a:r>
              <a:rPr dirty="0" sz="1550" spc="130">
                <a:latin typeface="Arial MT"/>
                <a:cs typeface="Arial MT"/>
              </a:rPr>
              <a:t>um</a:t>
            </a:r>
            <a:r>
              <a:rPr dirty="0" sz="1550" spc="315">
                <a:latin typeface="Arial MT"/>
                <a:cs typeface="Arial MT"/>
              </a:rPr>
              <a:t>  </a:t>
            </a:r>
            <a:r>
              <a:rPr dirty="0" sz="1550" spc="65">
                <a:latin typeface="Arial MT"/>
                <a:cs typeface="Arial MT"/>
              </a:rPr>
              <a:t>alimentador </a:t>
            </a:r>
            <a:r>
              <a:rPr dirty="0" sz="1550" spc="55">
                <a:latin typeface="Arial MT"/>
                <a:cs typeface="Arial MT"/>
              </a:rPr>
              <a:t>inteligente</a:t>
            </a:r>
            <a:r>
              <a:rPr dirty="0" sz="1550" spc="105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que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 spc="60">
                <a:latin typeface="Arial MT"/>
                <a:cs typeface="Arial MT"/>
              </a:rPr>
              <a:t>fornece</a:t>
            </a:r>
            <a:r>
              <a:rPr dirty="0" sz="1550" spc="85">
                <a:latin typeface="Arial MT"/>
                <a:cs typeface="Arial MT"/>
              </a:rPr>
              <a:t> </a:t>
            </a:r>
            <a:r>
              <a:rPr dirty="0" sz="1550" spc="130">
                <a:latin typeface="Arial MT"/>
                <a:cs typeface="Arial MT"/>
              </a:rPr>
              <a:t>um</a:t>
            </a:r>
            <a:r>
              <a:rPr dirty="0" sz="1550" spc="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ecossistema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de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site</a:t>
            </a:r>
            <a:r>
              <a:rPr dirty="0" sz="1550" spc="10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</a:t>
            </a:r>
            <a:r>
              <a:rPr dirty="0" sz="1550" spc="9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aplicativo </a:t>
            </a:r>
            <a:r>
              <a:rPr dirty="0" sz="1550" spc="75">
                <a:latin typeface="Arial MT"/>
                <a:cs typeface="Arial MT"/>
              </a:rPr>
              <a:t>que</a:t>
            </a:r>
            <a:r>
              <a:rPr dirty="0" sz="1550" spc="195">
                <a:latin typeface="Arial MT"/>
                <a:cs typeface="Arial MT"/>
              </a:rPr>
              <a:t>  </a:t>
            </a:r>
            <a:r>
              <a:rPr dirty="0" sz="1550" spc="90">
                <a:latin typeface="Arial MT"/>
                <a:cs typeface="Arial MT"/>
              </a:rPr>
              <a:t>permite</a:t>
            </a:r>
            <a:r>
              <a:rPr dirty="0" sz="1550" spc="204">
                <a:latin typeface="Arial MT"/>
                <a:cs typeface="Arial MT"/>
              </a:rPr>
              <a:t>  </a:t>
            </a:r>
            <a:r>
              <a:rPr dirty="0" sz="1550" spc="75">
                <a:latin typeface="Arial MT"/>
                <a:cs typeface="Arial MT"/>
              </a:rPr>
              <a:t>que</a:t>
            </a:r>
            <a:r>
              <a:rPr dirty="0" sz="1550" spc="200">
                <a:latin typeface="Arial MT"/>
                <a:cs typeface="Arial MT"/>
              </a:rPr>
              <a:t>  </a:t>
            </a:r>
            <a:r>
              <a:rPr dirty="0" sz="1550" spc="75">
                <a:latin typeface="Arial MT"/>
                <a:cs typeface="Arial MT"/>
              </a:rPr>
              <a:t>o</a:t>
            </a:r>
            <a:r>
              <a:rPr dirty="0" sz="1550" spc="200">
                <a:latin typeface="Arial MT"/>
                <a:cs typeface="Arial MT"/>
              </a:rPr>
              <a:t>  </a:t>
            </a:r>
            <a:r>
              <a:rPr dirty="0" sz="1550" spc="110">
                <a:latin typeface="Arial MT"/>
                <a:cs typeface="Arial MT"/>
              </a:rPr>
              <a:t>tutor</a:t>
            </a:r>
            <a:r>
              <a:rPr dirty="0" sz="1550" spc="204">
                <a:latin typeface="Arial MT"/>
                <a:cs typeface="Arial MT"/>
              </a:rPr>
              <a:t>  </a:t>
            </a:r>
            <a:r>
              <a:rPr dirty="0" sz="1550" spc="65">
                <a:latin typeface="Arial MT"/>
                <a:cs typeface="Arial MT"/>
              </a:rPr>
              <a:t>controle</a:t>
            </a:r>
            <a:r>
              <a:rPr dirty="0" sz="1550" spc="204">
                <a:latin typeface="Arial MT"/>
                <a:cs typeface="Arial MT"/>
              </a:rPr>
              <a:t>  </a:t>
            </a:r>
            <a:r>
              <a:rPr dirty="0" sz="1550" spc="100">
                <a:latin typeface="Arial MT"/>
                <a:cs typeface="Arial MT"/>
              </a:rPr>
              <a:t>tudo</a:t>
            </a:r>
            <a:r>
              <a:rPr dirty="0" sz="1550" spc="20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200">
                <a:latin typeface="Arial MT"/>
                <a:cs typeface="Arial MT"/>
              </a:rPr>
              <a:t>  </a:t>
            </a:r>
            <a:r>
              <a:rPr dirty="0" sz="1550" spc="-10">
                <a:latin typeface="Arial MT"/>
                <a:cs typeface="Arial MT"/>
              </a:rPr>
              <a:t>distância, </a:t>
            </a:r>
            <a:r>
              <a:rPr dirty="0" sz="1550" spc="65">
                <a:latin typeface="Arial MT"/>
                <a:cs typeface="Arial MT"/>
              </a:rPr>
              <a:t>oferecendo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 spc="45">
                <a:latin typeface="Arial MT"/>
                <a:cs typeface="Arial MT"/>
              </a:rPr>
              <a:t>funções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como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 spc="50">
                <a:latin typeface="Arial MT"/>
                <a:cs typeface="Arial MT"/>
              </a:rPr>
              <a:t>dispensar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pesar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 spc="60">
                <a:latin typeface="Arial MT"/>
                <a:cs typeface="Arial MT"/>
              </a:rPr>
              <a:t>comida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pro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57750" y="6360022"/>
            <a:ext cx="5565775" cy="6991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2600"/>
              </a:lnSpc>
              <a:spcBef>
                <a:spcPts val="95"/>
              </a:spcBef>
              <a:tabLst>
                <a:tab pos="808990" algn="l"/>
                <a:tab pos="1083310" algn="l"/>
                <a:tab pos="1346200" algn="l"/>
                <a:tab pos="1777364" algn="l"/>
                <a:tab pos="1801495" algn="l"/>
                <a:tab pos="2179955" algn="l"/>
                <a:tab pos="2655570" algn="l"/>
                <a:tab pos="2876550" algn="l"/>
                <a:tab pos="3201670" algn="l"/>
                <a:tab pos="3274060" algn="l"/>
                <a:tab pos="3509010" algn="l"/>
                <a:tab pos="3941445" algn="l"/>
                <a:tab pos="4164329" algn="l"/>
                <a:tab pos="5008245" algn="l"/>
                <a:tab pos="5131435" algn="l"/>
              </a:tabLst>
            </a:pPr>
            <a:r>
              <a:rPr dirty="0" sz="1550" spc="55">
                <a:latin typeface="Arial MT"/>
                <a:cs typeface="Arial MT"/>
              </a:rPr>
              <a:t>animal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50">
                <a:latin typeface="Arial MT"/>
                <a:cs typeface="Arial MT"/>
              </a:rPr>
              <a:t>e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80">
                <a:latin typeface="Arial MT"/>
                <a:cs typeface="Arial MT"/>
              </a:rPr>
              <a:t>medir</a:t>
            </a:r>
            <a:r>
              <a:rPr dirty="0" sz="1550">
                <a:latin typeface="Arial MT"/>
                <a:cs typeface="Arial MT"/>
              </a:rPr>
              <a:t>		</a:t>
            </a:r>
            <a:r>
              <a:rPr dirty="0" sz="1550" spc="-35">
                <a:latin typeface="Arial MT"/>
                <a:cs typeface="Arial MT"/>
              </a:rPr>
              <a:t>os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10">
                <a:latin typeface="Arial MT"/>
                <a:cs typeface="Arial MT"/>
              </a:rPr>
              <a:t>níveis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30">
                <a:latin typeface="Arial MT"/>
                <a:cs typeface="Arial MT"/>
              </a:rPr>
              <a:t>de</a:t>
            </a:r>
            <a:r>
              <a:rPr dirty="0" sz="1550">
                <a:latin typeface="Arial MT"/>
                <a:cs typeface="Arial MT"/>
              </a:rPr>
              <a:t>		</a:t>
            </a:r>
            <a:r>
              <a:rPr dirty="0" sz="1550" spc="-10">
                <a:latin typeface="Arial MT"/>
                <a:cs typeface="Arial MT"/>
              </a:rPr>
              <a:t>água,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60">
                <a:latin typeface="Arial MT"/>
                <a:cs typeface="Arial MT"/>
              </a:rPr>
              <a:t>garantindo</a:t>
            </a:r>
            <a:r>
              <a:rPr dirty="0" sz="1550">
                <a:latin typeface="Arial MT"/>
                <a:cs typeface="Arial MT"/>
              </a:rPr>
              <a:t>		</a:t>
            </a:r>
            <a:r>
              <a:rPr dirty="0" sz="1550" spc="65">
                <a:latin typeface="Arial MT"/>
                <a:cs typeface="Arial MT"/>
              </a:rPr>
              <a:t>uma </a:t>
            </a:r>
            <a:r>
              <a:rPr dirty="0" sz="1550" spc="45">
                <a:latin typeface="Arial MT"/>
                <a:cs typeface="Arial MT"/>
              </a:rPr>
              <a:t>alimentação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65">
                <a:latin typeface="Arial MT"/>
                <a:cs typeface="Arial MT"/>
              </a:rPr>
              <a:t>no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70">
                <a:latin typeface="Arial MT"/>
                <a:cs typeface="Arial MT"/>
              </a:rPr>
              <a:t>horário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50">
                <a:latin typeface="Arial MT"/>
                <a:cs typeface="Arial MT"/>
              </a:rPr>
              <a:t>que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35">
                <a:latin typeface="Arial MT"/>
                <a:cs typeface="Arial MT"/>
              </a:rPr>
              <a:t>o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100">
                <a:latin typeface="Arial MT"/>
                <a:cs typeface="Arial MT"/>
              </a:rPr>
              <a:t>tutor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10">
                <a:latin typeface="Arial MT"/>
                <a:cs typeface="Arial MT"/>
              </a:rPr>
              <a:t>deseja,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70">
                <a:latin typeface="Arial MT"/>
                <a:cs typeface="Arial MT"/>
              </a:rPr>
              <a:t>numa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57750" y="7131170"/>
            <a:ext cx="5568315" cy="2647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70">
                <a:latin typeface="Arial MT"/>
                <a:cs typeface="Arial MT"/>
              </a:rPr>
              <a:t>quantidade</a:t>
            </a:r>
            <a:r>
              <a:rPr dirty="0" sz="1550" spc="245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adequada</a:t>
            </a:r>
            <a:r>
              <a:rPr dirty="0" sz="1550" spc="2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</a:t>
            </a:r>
            <a:r>
              <a:rPr dirty="0" sz="1550" spc="229">
                <a:latin typeface="Arial MT"/>
                <a:cs typeface="Arial MT"/>
              </a:rPr>
              <a:t> </a:t>
            </a:r>
            <a:r>
              <a:rPr dirty="0" sz="1550" spc="65">
                <a:latin typeface="Arial MT"/>
                <a:cs typeface="Arial MT"/>
              </a:rPr>
              <a:t>evitando</a:t>
            </a:r>
            <a:r>
              <a:rPr dirty="0" sz="1550" spc="220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que</a:t>
            </a:r>
            <a:r>
              <a:rPr dirty="0" sz="1550" spc="225">
                <a:latin typeface="Arial MT"/>
                <a:cs typeface="Arial MT"/>
              </a:rPr>
              <a:t> </a:t>
            </a:r>
            <a:r>
              <a:rPr dirty="0" sz="1550" spc="75">
                <a:latin typeface="Arial MT"/>
                <a:cs typeface="Arial MT"/>
              </a:rPr>
              <a:t>o</a:t>
            </a:r>
            <a:r>
              <a:rPr dirty="0" sz="1550" spc="229">
                <a:latin typeface="Arial MT"/>
                <a:cs typeface="Arial MT"/>
              </a:rPr>
              <a:t> </a:t>
            </a:r>
            <a:r>
              <a:rPr dirty="0" sz="1550" spc="110">
                <a:latin typeface="Arial MT"/>
                <a:cs typeface="Arial MT"/>
              </a:rPr>
              <a:t>tutor</a:t>
            </a:r>
            <a:r>
              <a:rPr dirty="0" sz="1550" spc="2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esqueça</a:t>
            </a:r>
            <a:r>
              <a:rPr dirty="0" sz="1550" spc="235">
                <a:latin typeface="Arial MT"/>
                <a:cs typeface="Arial MT"/>
              </a:rPr>
              <a:t> </a:t>
            </a:r>
            <a:r>
              <a:rPr dirty="0" sz="1550" spc="35">
                <a:latin typeface="Arial MT"/>
                <a:cs typeface="Arial MT"/>
              </a:rPr>
              <a:t>de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57750" y="7467862"/>
            <a:ext cx="1273810" cy="2654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90">
                <a:latin typeface="Arial MT"/>
                <a:cs typeface="Arial MT"/>
              </a:rPr>
              <a:t>repor</a:t>
            </a:r>
            <a:r>
              <a:rPr dirty="0" sz="1550" spc="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-5">
                <a:latin typeface="Arial MT"/>
                <a:cs typeface="Arial MT"/>
              </a:rPr>
              <a:t> </a:t>
            </a:r>
            <a:r>
              <a:rPr dirty="0" sz="1550" spc="-20">
                <a:latin typeface="Arial MT"/>
                <a:cs typeface="Arial MT"/>
              </a:rPr>
              <a:t>água.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676432" y="8075324"/>
            <a:ext cx="4693920" cy="5753100"/>
            <a:chOff x="7676432" y="8075324"/>
            <a:chExt cx="4693920" cy="5753100"/>
          </a:xfrm>
        </p:grpSpPr>
        <p:pic>
          <p:nvPicPr>
            <p:cNvPr id="27" name="object 27" descr="Ícone  O conteúdo gerado por IA pode estar incorreto.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77817" y="8075324"/>
              <a:ext cx="4135168" cy="278780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76432" y="11160080"/>
              <a:ext cx="4693615" cy="26681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2026-05-10T20:00:26Z</dcterms:created>
  <dcterms:modified xsi:type="dcterms:W3CDTF">2026-05-10T20:00:26Z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2026-05-10T00:00:00Z</vt:filetime>
  </property>
  <property fmtid="{D5CDD505-2E9C-101B-9397-08002B2CF9AE}" pid="4" name="LastSaved">
    <vt:filetime>2026-05-10T00:00:00Z</vt:filetime>
  </property>
</Properties>
</file>