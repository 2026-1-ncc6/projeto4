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3398500" cy="20104100"/>
  <p:notesSz cx="133985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363" y="6232271"/>
            <a:ext cx="113941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0727" y="11258296"/>
            <a:ext cx="93833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70242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903497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4178354"/>
            <a:ext cx="13402944" cy="2938780"/>
          </a:xfrm>
          <a:custGeom>
            <a:avLst/>
            <a:gdLst/>
            <a:ahLst/>
            <a:cxnLst/>
            <a:rect l="l" t="t" r="r" b="b"/>
            <a:pathLst>
              <a:path w="13402944" h="2938780">
                <a:moveTo>
                  <a:pt x="0" y="2938496"/>
                </a:moveTo>
                <a:lnTo>
                  <a:pt x="13402732" y="2938496"/>
                </a:lnTo>
                <a:lnTo>
                  <a:pt x="13402732" y="0"/>
                </a:lnTo>
                <a:lnTo>
                  <a:pt x="0" y="0"/>
                </a:lnTo>
                <a:lnTo>
                  <a:pt x="0" y="29384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7463691"/>
            <a:ext cx="7122795" cy="2548890"/>
          </a:xfrm>
          <a:custGeom>
            <a:avLst/>
            <a:gdLst/>
            <a:ahLst/>
            <a:cxnLst/>
            <a:rect l="l" t="t" r="r" b="b"/>
            <a:pathLst>
              <a:path w="7122795" h="2548890">
                <a:moveTo>
                  <a:pt x="0" y="2548469"/>
                </a:moveTo>
                <a:lnTo>
                  <a:pt x="7122417" y="2548469"/>
                </a:lnTo>
                <a:lnTo>
                  <a:pt x="7122417" y="0"/>
                </a:lnTo>
                <a:lnTo>
                  <a:pt x="0" y="0"/>
                </a:lnTo>
                <a:lnTo>
                  <a:pt x="0" y="2548469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2950656" y="7463691"/>
            <a:ext cx="452120" cy="2548890"/>
          </a:xfrm>
          <a:custGeom>
            <a:avLst/>
            <a:gdLst/>
            <a:ahLst/>
            <a:cxnLst/>
            <a:rect l="l" t="t" r="r" b="b"/>
            <a:pathLst>
              <a:path w="452119" h="2548890">
                <a:moveTo>
                  <a:pt x="0" y="2548469"/>
                </a:moveTo>
                <a:lnTo>
                  <a:pt x="452076" y="2548469"/>
                </a:lnTo>
                <a:lnTo>
                  <a:pt x="452076" y="0"/>
                </a:lnTo>
                <a:lnTo>
                  <a:pt x="0" y="0"/>
                </a:lnTo>
                <a:lnTo>
                  <a:pt x="0" y="2548469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17945657"/>
            <a:ext cx="13402944" cy="2159000"/>
          </a:xfrm>
          <a:custGeom>
            <a:avLst/>
            <a:gdLst/>
            <a:ahLst/>
            <a:cxnLst/>
            <a:rect l="l" t="t" r="r" b="b"/>
            <a:pathLst>
              <a:path w="13402944" h="2159000">
                <a:moveTo>
                  <a:pt x="0" y="2158442"/>
                </a:moveTo>
                <a:lnTo>
                  <a:pt x="13402733" y="2158442"/>
                </a:lnTo>
                <a:lnTo>
                  <a:pt x="13402733" y="0"/>
                </a:lnTo>
                <a:lnTo>
                  <a:pt x="0" y="0"/>
                </a:lnTo>
                <a:lnTo>
                  <a:pt x="0" y="2158442"/>
                </a:lnTo>
                <a:close/>
              </a:path>
            </a:pathLst>
          </a:custGeom>
          <a:solidFill>
            <a:srgbClr val="0FE68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1464" y="16208265"/>
            <a:ext cx="10597200" cy="3895831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14178354"/>
            <a:ext cx="13402944" cy="3767454"/>
          </a:xfrm>
          <a:custGeom>
            <a:avLst/>
            <a:gdLst/>
            <a:ahLst/>
            <a:cxnLst/>
            <a:rect l="l" t="t" r="r" b="b"/>
            <a:pathLst>
              <a:path w="13402944" h="3767455">
                <a:moveTo>
                  <a:pt x="0" y="3767302"/>
                </a:moveTo>
                <a:lnTo>
                  <a:pt x="13402733" y="3767302"/>
                </a:lnTo>
                <a:lnTo>
                  <a:pt x="13402733" y="0"/>
                </a:lnTo>
                <a:lnTo>
                  <a:pt x="0" y="0"/>
                </a:lnTo>
                <a:lnTo>
                  <a:pt x="0" y="3767302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10012160"/>
            <a:ext cx="13402944" cy="4166235"/>
          </a:xfrm>
          <a:custGeom>
            <a:avLst/>
            <a:gdLst/>
            <a:ahLst/>
            <a:cxnLst/>
            <a:rect l="l" t="t" r="r" b="b"/>
            <a:pathLst>
              <a:path w="13402944" h="4166234">
                <a:moveTo>
                  <a:pt x="0" y="0"/>
                </a:moveTo>
                <a:lnTo>
                  <a:pt x="0" y="4166193"/>
                </a:lnTo>
                <a:lnTo>
                  <a:pt x="13402733" y="4166193"/>
                </a:lnTo>
                <a:lnTo>
                  <a:pt x="13402733" y="0"/>
                </a:lnTo>
                <a:lnTo>
                  <a:pt x="0" y="0"/>
                </a:lnTo>
                <a:close/>
              </a:path>
            </a:pathLst>
          </a:custGeom>
          <a:solidFill>
            <a:srgbClr val="0133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3944587"/>
            <a:ext cx="13402944" cy="3519170"/>
          </a:xfrm>
          <a:custGeom>
            <a:avLst/>
            <a:gdLst/>
            <a:ahLst/>
            <a:cxnLst/>
            <a:rect l="l" t="t" r="r" b="b"/>
            <a:pathLst>
              <a:path w="13402944" h="3519170">
                <a:moveTo>
                  <a:pt x="0" y="3519103"/>
                </a:moveTo>
                <a:lnTo>
                  <a:pt x="13402733" y="3519103"/>
                </a:lnTo>
                <a:lnTo>
                  <a:pt x="13402733" y="0"/>
                </a:lnTo>
                <a:lnTo>
                  <a:pt x="0" y="0"/>
                </a:lnTo>
                <a:lnTo>
                  <a:pt x="0" y="3519103"/>
                </a:lnTo>
                <a:close/>
              </a:path>
            </a:pathLst>
          </a:custGeom>
          <a:solidFill>
            <a:srgbClr val="0773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0"/>
            <a:ext cx="13402944" cy="3944620"/>
          </a:xfrm>
          <a:custGeom>
            <a:avLst/>
            <a:gdLst/>
            <a:ahLst/>
            <a:cxnLst/>
            <a:rect l="l" t="t" r="r" b="b"/>
            <a:pathLst>
              <a:path w="13402944" h="3944620">
                <a:moveTo>
                  <a:pt x="0" y="3944588"/>
                </a:moveTo>
                <a:lnTo>
                  <a:pt x="13402733" y="3944588"/>
                </a:lnTo>
                <a:lnTo>
                  <a:pt x="13402733" y="0"/>
                </a:lnTo>
                <a:lnTo>
                  <a:pt x="0" y="0"/>
                </a:lnTo>
                <a:lnTo>
                  <a:pt x="0" y="3944588"/>
                </a:lnTo>
                <a:close/>
              </a:path>
            </a:pathLst>
          </a:custGeom>
          <a:solidFill>
            <a:srgbClr val="0FE6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7122417" y="4405528"/>
            <a:ext cx="5828665" cy="9525000"/>
          </a:xfrm>
          <a:custGeom>
            <a:avLst/>
            <a:gdLst/>
            <a:ahLst/>
            <a:cxnLst/>
            <a:rect l="l" t="t" r="r" b="b"/>
            <a:pathLst>
              <a:path w="5828665" h="9525000">
                <a:moveTo>
                  <a:pt x="5828238" y="0"/>
                </a:moveTo>
                <a:lnTo>
                  <a:pt x="0" y="0"/>
                </a:lnTo>
                <a:lnTo>
                  <a:pt x="0" y="9524627"/>
                </a:lnTo>
                <a:lnTo>
                  <a:pt x="5828238" y="9524627"/>
                </a:lnTo>
                <a:lnTo>
                  <a:pt x="58282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7122417" y="4405528"/>
            <a:ext cx="5828665" cy="9525000"/>
          </a:xfrm>
          <a:custGeom>
            <a:avLst/>
            <a:gdLst/>
            <a:ahLst/>
            <a:cxnLst/>
            <a:rect l="l" t="t" r="r" b="b"/>
            <a:pathLst>
              <a:path w="5828665" h="9525000">
                <a:moveTo>
                  <a:pt x="0" y="9524627"/>
                </a:moveTo>
                <a:lnTo>
                  <a:pt x="5828238" y="9524627"/>
                </a:lnTo>
                <a:lnTo>
                  <a:pt x="5828238" y="0"/>
                </a:lnTo>
                <a:lnTo>
                  <a:pt x="0" y="0"/>
                </a:lnTo>
                <a:lnTo>
                  <a:pt x="0" y="9524627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29915" y="14200515"/>
            <a:ext cx="6444615" cy="4064635"/>
          </a:xfrm>
          <a:custGeom>
            <a:avLst/>
            <a:gdLst/>
            <a:ahLst/>
            <a:cxnLst/>
            <a:rect l="l" t="t" r="r" b="b"/>
            <a:pathLst>
              <a:path w="6444615" h="4064634">
                <a:moveTo>
                  <a:pt x="6444303" y="0"/>
                </a:moveTo>
                <a:lnTo>
                  <a:pt x="0" y="0"/>
                </a:lnTo>
                <a:lnTo>
                  <a:pt x="0" y="4064254"/>
                </a:lnTo>
                <a:lnTo>
                  <a:pt x="6444303" y="4064254"/>
                </a:lnTo>
                <a:lnTo>
                  <a:pt x="64443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29915" y="14200515"/>
            <a:ext cx="6444615" cy="4064635"/>
          </a:xfrm>
          <a:custGeom>
            <a:avLst/>
            <a:gdLst/>
            <a:ahLst/>
            <a:cxnLst/>
            <a:rect l="l" t="t" r="r" b="b"/>
            <a:pathLst>
              <a:path w="6444615" h="4064634">
                <a:moveTo>
                  <a:pt x="0" y="4064254"/>
                </a:moveTo>
                <a:lnTo>
                  <a:pt x="6444303" y="4064254"/>
                </a:lnTo>
                <a:lnTo>
                  <a:pt x="6444303" y="0"/>
                </a:lnTo>
                <a:lnTo>
                  <a:pt x="0" y="0"/>
                </a:lnTo>
                <a:lnTo>
                  <a:pt x="0" y="4064254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09139"/>
            <a:ext cx="3563424" cy="1143486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71464" y="0"/>
            <a:ext cx="10597200" cy="433461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77258" y="797782"/>
            <a:ext cx="3363979" cy="10858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1093" y="1724435"/>
            <a:ext cx="12206605" cy="2189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242" y="4623943"/>
            <a:ext cx="1206436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57649" y="18696814"/>
            <a:ext cx="4289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7024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65149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hyperlink" Target="http://www.gov.br/agricultura/pt-br/assuntos/camaras-setoriais-tematicas/documentos/camaras-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70382" y="5584720"/>
            <a:ext cx="2038985" cy="4108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dirty="0" sz="2350" spc="-185">
                <a:latin typeface="Arial Black"/>
                <a:cs typeface="Arial Black"/>
              </a:rPr>
              <a:t>INTRODUÇÃO</a:t>
            </a:r>
            <a:endParaRPr sz="2350">
              <a:latin typeface="Arial Black"/>
              <a:cs typeface="Arial Black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25482" y="4440984"/>
            <a:ext cx="6453505" cy="4760595"/>
            <a:chOff x="425482" y="4440984"/>
            <a:chExt cx="6453505" cy="4760595"/>
          </a:xfrm>
        </p:grpSpPr>
        <p:sp>
          <p:nvSpPr>
            <p:cNvPr id="4" name="object 4" descr=""/>
            <p:cNvSpPr/>
            <p:nvPr/>
          </p:nvSpPr>
          <p:spPr>
            <a:xfrm>
              <a:off x="429915" y="4445417"/>
              <a:ext cx="6444615" cy="4751705"/>
            </a:xfrm>
            <a:custGeom>
              <a:avLst/>
              <a:gdLst/>
              <a:ahLst/>
              <a:cxnLst/>
              <a:rect l="l" t="t" r="r" b="b"/>
              <a:pathLst>
                <a:path w="6444615" h="4751705">
                  <a:moveTo>
                    <a:pt x="6444303" y="0"/>
                  </a:moveTo>
                  <a:lnTo>
                    <a:pt x="0" y="0"/>
                  </a:lnTo>
                  <a:lnTo>
                    <a:pt x="0" y="4751233"/>
                  </a:lnTo>
                  <a:lnTo>
                    <a:pt x="6444303" y="4751233"/>
                  </a:lnTo>
                  <a:lnTo>
                    <a:pt x="6444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29915" y="4445417"/>
              <a:ext cx="6444615" cy="4751705"/>
            </a:xfrm>
            <a:custGeom>
              <a:avLst/>
              <a:gdLst/>
              <a:ahLst/>
              <a:cxnLst/>
              <a:rect l="l" t="t" r="r" b="b"/>
              <a:pathLst>
                <a:path w="6444615" h="4751705">
                  <a:moveTo>
                    <a:pt x="0" y="4751233"/>
                  </a:moveTo>
                  <a:lnTo>
                    <a:pt x="6444303" y="4751233"/>
                  </a:lnTo>
                  <a:lnTo>
                    <a:pt x="6444303" y="0"/>
                  </a:lnTo>
                  <a:lnTo>
                    <a:pt x="0" y="0"/>
                  </a:lnTo>
                  <a:lnTo>
                    <a:pt x="0" y="4751233"/>
                  </a:lnTo>
                  <a:close/>
                </a:path>
              </a:pathLst>
            </a:custGeom>
            <a:ln w="8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425482" y="9303021"/>
            <a:ext cx="6453505" cy="4645025"/>
            <a:chOff x="425482" y="9303021"/>
            <a:chExt cx="6453505" cy="4645025"/>
          </a:xfrm>
        </p:grpSpPr>
        <p:sp>
          <p:nvSpPr>
            <p:cNvPr id="7" name="object 7" descr=""/>
            <p:cNvSpPr/>
            <p:nvPr/>
          </p:nvSpPr>
          <p:spPr>
            <a:xfrm>
              <a:off x="429915" y="9307454"/>
              <a:ext cx="6444615" cy="4636135"/>
            </a:xfrm>
            <a:custGeom>
              <a:avLst/>
              <a:gdLst/>
              <a:ahLst/>
              <a:cxnLst/>
              <a:rect l="l" t="t" r="r" b="b"/>
              <a:pathLst>
                <a:path w="6444615" h="4636134">
                  <a:moveTo>
                    <a:pt x="6444303" y="0"/>
                  </a:moveTo>
                  <a:lnTo>
                    <a:pt x="0" y="0"/>
                  </a:lnTo>
                  <a:lnTo>
                    <a:pt x="0" y="4635998"/>
                  </a:lnTo>
                  <a:lnTo>
                    <a:pt x="6444303" y="4635998"/>
                  </a:lnTo>
                  <a:lnTo>
                    <a:pt x="6444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29915" y="9307454"/>
              <a:ext cx="6444615" cy="4636135"/>
            </a:xfrm>
            <a:custGeom>
              <a:avLst/>
              <a:gdLst/>
              <a:ahLst/>
              <a:cxnLst/>
              <a:rect l="l" t="t" r="r" b="b"/>
              <a:pathLst>
                <a:path w="6444615" h="4636134">
                  <a:moveTo>
                    <a:pt x="0" y="4635998"/>
                  </a:moveTo>
                  <a:lnTo>
                    <a:pt x="6444303" y="4635998"/>
                  </a:lnTo>
                  <a:lnTo>
                    <a:pt x="6444303" y="0"/>
                  </a:lnTo>
                  <a:lnTo>
                    <a:pt x="0" y="0"/>
                  </a:lnTo>
                  <a:lnTo>
                    <a:pt x="0" y="4635998"/>
                  </a:lnTo>
                  <a:close/>
                </a:path>
              </a:pathLst>
            </a:custGeom>
            <a:ln w="8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7162306" y="14231539"/>
            <a:ext cx="5930265" cy="5522595"/>
            <a:chOff x="7162306" y="14231539"/>
            <a:chExt cx="5930265" cy="5522595"/>
          </a:xfrm>
        </p:grpSpPr>
        <p:sp>
          <p:nvSpPr>
            <p:cNvPr id="10" name="object 10" descr=""/>
            <p:cNvSpPr/>
            <p:nvPr/>
          </p:nvSpPr>
          <p:spPr>
            <a:xfrm>
              <a:off x="7166738" y="14235971"/>
              <a:ext cx="5833110" cy="3572510"/>
            </a:xfrm>
            <a:custGeom>
              <a:avLst/>
              <a:gdLst/>
              <a:ahLst/>
              <a:cxnLst/>
              <a:rect l="l" t="t" r="r" b="b"/>
              <a:pathLst>
                <a:path w="5833109" h="3572509">
                  <a:moveTo>
                    <a:pt x="5832670" y="0"/>
                  </a:moveTo>
                  <a:lnTo>
                    <a:pt x="0" y="0"/>
                  </a:lnTo>
                  <a:lnTo>
                    <a:pt x="0" y="3572289"/>
                  </a:lnTo>
                  <a:lnTo>
                    <a:pt x="5832670" y="3572289"/>
                  </a:lnTo>
                  <a:lnTo>
                    <a:pt x="5832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66738" y="14235971"/>
              <a:ext cx="5833110" cy="3572510"/>
            </a:xfrm>
            <a:custGeom>
              <a:avLst/>
              <a:gdLst/>
              <a:ahLst/>
              <a:cxnLst/>
              <a:rect l="l" t="t" r="r" b="b"/>
              <a:pathLst>
                <a:path w="5833109" h="3572509">
                  <a:moveTo>
                    <a:pt x="0" y="3572289"/>
                  </a:moveTo>
                  <a:lnTo>
                    <a:pt x="5832670" y="3572289"/>
                  </a:lnTo>
                  <a:lnTo>
                    <a:pt x="5832670" y="0"/>
                  </a:lnTo>
                  <a:lnTo>
                    <a:pt x="0" y="0"/>
                  </a:lnTo>
                  <a:lnTo>
                    <a:pt x="0" y="3572289"/>
                  </a:lnTo>
                  <a:close/>
                </a:path>
              </a:pathLst>
            </a:custGeom>
            <a:ln w="8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1965" y="17125714"/>
              <a:ext cx="2610518" cy="2628247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1955" rIns="0" bIns="0" rtlCol="0" vert="horz">
            <a:spAutoFit/>
          </a:bodyPr>
          <a:lstStyle/>
          <a:p>
            <a:pPr algn="ctr" marR="27940">
              <a:lnSpc>
                <a:spcPct val="100000"/>
              </a:lnSpc>
              <a:spcBef>
                <a:spcPts val="3165"/>
              </a:spcBef>
            </a:pPr>
            <a:r>
              <a:rPr dirty="0" spc="-665"/>
              <a:t>PETBUTLER</a:t>
            </a:r>
          </a:p>
          <a:p>
            <a:pPr algn="ctr" marL="12700" marR="5080" indent="1270">
              <a:lnSpc>
                <a:spcPct val="140200"/>
              </a:lnSpc>
              <a:spcBef>
                <a:spcPts val="209"/>
              </a:spcBef>
            </a:pPr>
            <a:r>
              <a:rPr dirty="0" sz="2200" spc="-105"/>
              <a:t>Sabrinna</a:t>
            </a:r>
            <a:r>
              <a:rPr dirty="0" sz="2200" spc="-130"/>
              <a:t> </a:t>
            </a:r>
            <a:r>
              <a:rPr dirty="0" sz="2200" spc="-155"/>
              <a:t>Vicente,</a:t>
            </a:r>
            <a:r>
              <a:rPr dirty="0" sz="2200" spc="-135"/>
              <a:t> </a:t>
            </a:r>
            <a:r>
              <a:rPr dirty="0" sz="2200" spc="-70"/>
              <a:t>Maria</a:t>
            </a:r>
            <a:r>
              <a:rPr dirty="0" sz="2200" spc="-125"/>
              <a:t> </a:t>
            </a:r>
            <a:r>
              <a:rPr dirty="0" sz="2200" spc="-160"/>
              <a:t>Kassandra</a:t>
            </a:r>
            <a:r>
              <a:rPr dirty="0" sz="2200" spc="-125"/>
              <a:t> </a:t>
            </a:r>
            <a:r>
              <a:rPr dirty="0" sz="2200" spc="-160"/>
              <a:t>Gomes,</a:t>
            </a:r>
            <a:r>
              <a:rPr dirty="0" sz="2200" spc="-140"/>
              <a:t> </a:t>
            </a:r>
            <a:r>
              <a:rPr dirty="0" sz="2200" spc="-105"/>
              <a:t>Leonardo</a:t>
            </a:r>
            <a:r>
              <a:rPr dirty="0" sz="2200" spc="-120"/>
              <a:t> </a:t>
            </a:r>
            <a:r>
              <a:rPr dirty="0" sz="2200" spc="-95"/>
              <a:t>Ferreira,</a:t>
            </a:r>
            <a:r>
              <a:rPr dirty="0" sz="2200" spc="-135"/>
              <a:t> </a:t>
            </a:r>
            <a:r>
              <a:rPr dirty="0" sz="2200" spc="-120"/>
              <a:t>Sátiro</a:t>
            </a:r>
            <a:r>
              <a:rPr dirty="0" sz="2200" spc="-130"/>
              <a:t> </a:t>
            </a:r>
            <a:r>
              <a:rPr dirty="0" sz="2200" spc="-10"/>
              <a:t>Santos </a:t>
            </a:r>
            <a:r>
              <a:rPr dirty="0" sz="2200" spc="-95"/>
              <a:t>Orientadores:</a:t>
            </a:r>
            <a:r>
              <a:rPr dirty="0" sz="2200" spc="-114"/>
              <a:t> </a:t>
            </a:r>
            <a:r>
              <a:rPr dirty="0" sz="2200" spc="-150"/>
              <a:t>Victor</a:t>
            </a:r>
            <a:r>
              <a:rPr dirty="0" sz="2200" spc="-105"/>
              <a:t> </a:t>
            </a:r>
            <a:r>
              <a:rPr dirty="0" sz="2200" spc="-135"/>
              <a:t>Rosetti,</a:t>
            </a:r>
            <a:r>
              <a:rPr dirty="0" sz="2200" spc="-125"/>
              <a:t> </a:t>
            </a:r>
            <a:r>
              <a:rPr dirty="0" sz="2200" spc="-170"/>
              <a:t>Edson</a:t>
            </a:r>
            <a:r>
              <a:rPr dirty="0" sz="2200" spc="-125"/>
              <a:t> </a:t>
            </a:r>
            <a:r>
              <a:rPr dirty="0" sz="2200" spc="-100"/>
              <a:t>Barbeiro,</a:t>
            </a:r>
            <a:r>
              <a:rPr dirty="0" sz="2200" spc="-160"/>
              <a:t> </a:t>
            </a:r>
            <a:r>
              <a:rPr dirty="0" sz="2200" spc="-180"/>
              <a:t>Lucy</a:t>
            </a:r>
            <a:r>
              <a:rPr dirty="0" sz="2200" spc="-55"/>
              <a:t> </a:t>
            </a:r>
            <a:r>
              <a:rPr dirty="0" sz="2200" spc="-114"/>
              <a:t>Tabuti,</a:t>
            </a:r>
            <a:r>
              <a:rPr dirty="0" sz="2200" spc="-130"/>
              <a:t> </a:t>
            </a:r>
            <a:r>
              <a:rPr dirty="0" sz="2200" spc="-105"/>
              <a:t>Rodnil</a:t>
            </a:r>
            <a:r>
              <a:rPr dirty="0" sz="2200" spc="-125"/>
              <a:t> </a:t>
            </a:r>
            <a:r>
              <a:rPr dirty="0" sz="2200" spc="-145"/>
              <a:t>Lisboa,</a:t>
            </a:r>
            <a:r>
              <a:rPr dirty="0" sz="2200" spc="-125"/>
              <a:t> </a:t>
            </a:r>
            <a:r>
              <a:rPr dirty="0" sz="2200" spc="-270"/>
              <a:t>João</a:t>
            </a:r>
            <a:r>
              <a:rPr dirty="0" sz="2200" spc="-145"/>
              <a:t> </a:t>
            </a:r>
            <a:r>
              <a:rPr dirty="0" sz="2200" spc="-45"/>
              <a:t>Trencher.</a:t>
            </a:r>
            <a:endParaRPr sz="2200"/>
          </a:p>
        </p:txBody>
      </p:sp>
      <p:sp>
        <p:nvSpPr>
          <p:cNvPr id="14" name="object 14" descr=""/>
          <p:cNvSpPr txBox="1"/>
          <p:nvPr/>
        </p:nvSpPr>
        <p:spPr>
          <a:xfrm>
            <a:off x="9182296" y="4549281"/>
            <a:ext cx="1839595" cy="366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200" spc="-235">
                <a:latin typeface="Arial Black"/>
                <a:cs typeface="Arial Black"/>
              </a:rPr>
              <a:t>RESULTADOS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665187" y="4549281"/>
            <a:ext cx="1875155" cy="366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200" spc="-80">
                <a:latin typeface="Arial Black"/>
                <a:cs typeface="Arial Black"/>
              </a:rPr>
              <a:t>O</a:t>
            </a:r>
            <a:r>
              <a:rPr dirty="0" sz="2200" spc="-170">
                <a:latin typeface="Arial Black"/>
                <a:cs typeface="Arial Black"/>
              </a:rPr>
              <a:t> </a:t>
            </a:r>
            <a:r>
              <a:rPr dirty="0" sz="2200" spc="-180">
                <a:latin typeface="Arial Black"/>
                <a:cs typeface="Arial Black"/>
              </a:rPr>
              <a:t>PROBLEMA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58852" y="9411171"/>
            <a:ext cx="1795145" cy="366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 spc="-190">
                <a:latin typeface="Arial Black"/>
                <a:cs typeface="Arial Black"/>
              </a:rPr>
              <a:t>A</a:t>
            </a:r>
            <a:r>
              <a:rPr dirty="0" sz="2200" spc="-180">
                <a:latin typeface="Arial Black"/>
                <a:cs typeface="Arial Black"/>
              </a:rPr>
              <a:t> </a:t>
            </a:r>
            <a:r>
              <a:rPr dirty="0" sz="2200" spc="-200">
                <a:latin typeface="Arial Black"/>
                <a:cs typeface="Arial Black"/>
              </a:rPr>
              <a:t>PROPOSTA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435804" y="14354610"/>
            <a:ext cx="5332095" cy="10210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135"/>
              </a:spcBef>
            </a:pPr>
            <a:r>
              <a:rPr dirty="0" sz="2200" spc="-270">
                <a:latin typeface="Arial Black"/>
                <a:cs typeface="Arial Black"/>
              </a:rPr>
              <a:t>REFERÊNCIAS</a:t>
            </a:r>
            <a:endParaRPr sz="2200">
              <a:latin typeface="Arial Black"/>
              <a:cs typeface="Arial Black"/>
            </a:endParaRPr>
          </a:p>
          <a:p>
            <a:pPr marL="143510" marR="5080" indent="-131445">
              <a:lnSpc>
                <a:spcPct val="101299"/>
              </a:lnSpc>
              <a:spcBef>
                <a:spcPts val="1390"/>
              </a:spcBef>
              <a:buChar char="•"/>
              <a:tabLst>
                <a:tab pos="145415" algn="l"/>
              </a:tabLst>
            </a:pPr>
            <a:r>
              <a:rPr dirty="0" sz="1550">
                <a:latin typeface="Arial MT"/>
                <a:cs typeface="Arial MT"/>
              </a:rPr>
              <a:t>ABINPET.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Projeções</a:t>
            </a:r>
            <a:r>
              <a:rPr dirty="0" sz="1550" spc="22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dados</a:t>
            </a:r>
            <a:r>
              <a:rPr dirty="0" sz="1550" spc="22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do</a:t>
            </a:r>
            <a:r>
              <a:rPr dirty="0" sz="1550" spc="2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mercado</a:t>
            </a:r>
            <a:r>
              <a:rPr dirty="0" sz="1550" spc="2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pet</a:t>
            </a:r>
            <a:r>
              <a:rPr dirty="0" sz="1550" spc="254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brasileiro. 	2024.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435804" y="15593979"/>
            <a:ext cx="5330825" cy="123126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43510" marR="5080" indent="-131445">
              <a:lnSpc>
                <a:spcPct val="103200"/>
              </a:lnSpc>
              <a:spcBef>
                <a:spcPts val="60"/>
              </a:spcBef>
              <a:buChar char="•"/>
              <a:tabLst>
                <a:tab pos="145415" algn="l"/>
                <a:tab pos="1025525" algn="l"/>
                <a:tab pos="2007235" algn="l"/>
                <a:tab pos="2374900" algn="l"/>
                <a:tab pos="3300729" algn="l"/>
                <a:tab pos="3724910" algn="l"/>
                <a:tab pos="3980815" algn="l"/>
                <a:tab pos="5095875" algn="l"/>
              </a:tabLst>
            </a:pPr>
            <a:r>
              <a:rPr dirty="0" sz="1550" spc="-10">
                <a:latin typeface="Arial MT"/>
                <a:cs typeface="Arial MT"/>
              </a:rPr>
              <a:t>ABRAS.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Overview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25">
                <a:latin typeface="Arial MT"/>
                <a:cs typeface="Arial MT"/>
              </a:rPr>
              <a:t>do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mercado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25">
                <a:latin typeface="Arial MT"/>
                <a:cs typeface="Arial MT"/>
              </a:rPr>
              <a:t>pet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50">
                <a:latin typeface="Arial MT"/>
                <a:cs typeface="Arial MT"/>
              </a:rPr>
              <a:t>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tendências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25">
                <a:latin typeface="Arial MT"/>
                <a:cs typeface="Arial MT"/>
              </a:rPr>
              <a:t>de </a:t>
            </a:r>
            <a:r>
              <a:rPr dirty="0" sz="1550" spc="-25">
                <a:latin typeface="Arial MT"/>
                <a:cs typeface="Arial MT"/>
              </a:rPr>
              <a:t>	</a:t>
            </a:r>
            <a:r>
              <a:rPr dirty="0" sz="1550">
                <a:latin typeface="Arial MT"/>
                <a:cs typeface="Arial MT"/>
              </a:rPr>
              <a:t>consumo.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2025.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143510" marR="5080" indent="-131445">
              <a:lnSpc>
                <a:spcPct val="103299"/>
              </a:lnSpc>
              <a:buChar char="•"/>
              <a:tabLst>
                <a:tab pos="145415" algn="l"/>
                <a:tab pos="855344" algn="l"/>
                <a:tab pos="1843405" algn="l"/>
                <a:tab pos="2508250" algn="l"/>
                <a:tab pos="3262629" algn="l"/>
                <a:tab pos="3536950" algn="l"/>
                <a:tab pos="5095875" algn="l"/>
              </a:tabLst>
            </a:pPr>
            <a:r>
              <a:rPr dirty="0" sz="1550" spc="-10">
                <a:latin typeface="Arial MT"/>
                <a:cs typeface="Arial MT"/>
              </a:rPr>
              <a:t>KOIN.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Pesquisa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sobre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gastos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50">
                <a:latin typeface="Arial MT"/>
                <a:cs typeface="Arial MT"/>
              </a:rPr>
              <a:t>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comportamento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25">
                <a:latin typeface="Arial MT"/>
                <a:cs typeface="Arial MT"/>
              </a:rPr>
              <a:t>de </a:t>
            </a:r>
            <a:r>
              <a:rPr dirty="0" sz="1550" spc="-25">
                <a:latin typeface="Arial MT"/>
                <a:cs typeface="Arial MT"/>
              </a:rPr>
              <a:t>	</a:t>
            </a:r>
            <a:r>
              <a:rPr dirty="0" sz="1550">
                <a:latin typeface="Arial MT"/>
                <a:cs typeface="Arial MT"/>
              </a:rPr>
              <a:t>tutores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pets.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435804" y="17043431"/>
            <a:ext cx="3018155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120"/>
              </a:spcBef>
              <a:buChar char="•"/>
              <a:tabLst>
                <a:tab pos="144780" algn="l"/>
              </a:tabLst>
            </a:pPr>
            <a:r>
              <a:rPr dirty="0" sz="1550">
                <a:latin typeface="Arial MT"/>
                <a:cs typeface="Arial MT"/>
              </a:rPr>
              <a:t>GOV.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Projeção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setor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PET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2025.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30241" y="14201137"/>
            <a:ext cx="5841365" cy="1128395"/>
          </a:xfrm>
          <a:prstGeom prst="rect">
            <a:avLst/>
          </a:prstGeom>
        </p:spPr>
        <p:txBody>
          <a:bodyPr wrap="square" lIns="0" tIns="126365" rIns="0" bIns="0" rtlCol="0" vert="horz">
            <a:spAutoFit/>
          </a:bodyPr>
          <a:lstStyle/>
          <a:p>
            <a:pPr algn="ctr" marR="165735">
              <a:lnSpc>
                <a:spcPct val="100000"/>
              </a:lnSpc>
              <a:spcBef>
                <a:spcPts val="995"/>
              </a:spcBef>
            </a:pPr>
            <a:r>
              <a:rPr dirty="0" sz="2200" spc="-215">
                <a:latin typeface="Arial Black"/>
                <a:cs typeface="Arial Black"/>
              </a:rPr>
              <a:t>TECNOLOGIAS</a:t>
            </a:r>
            <a:r>
              <a:rPr dirty="0" sz="2200" spc="-100">
                <a:latin typeface="Arial Black"/>
                <a:cs typeface="Arial Black"/>
              </a:rPr>
              <a:t> </a:t>
            </a:r>
            <a:r>
              <a:rPr dirty="0" sz="2200" spc="-110">
                <a:latin typeface="Arial Black"/>
                <a:cs typeface="Arial Black"/>
              </a:rPr>
              <a:t>UTILIZADAS</a:t>
            </a:r>
            <a:endParaRPr sz="2200">
              <a:latin typeface="Arial Black"/>
              <a:cs typeface="Arial Black"/>
            </a:endParaRPr>
          </a:p>
          <a:p>
            <a:pPr marL="12700" marR="5080">
              <a:lnSpc>
                <a:spcPts val="2650"/>
              </a:lnSpc>
            </a:pPr>
            <a:r>
              <a:rPr dirty="0" sz="1550">
                <a:latin typeface="Arial MT"/>
                <a:cs typeface="Arial MT"/>
              </a:rPr>
              <a:t>O</a:t>
            </a:r>
            <a:r>
              <a:rPr dirty="0" sz="1550" spc="490">
                <a:latin typeface="Arial MT"/>
                <a:cs typeface="Arial MT"/>
              </a:rPr>
              <a:t> </a:t>
            </a:r>
            <a:r>
              <a:rPr dirty="0" sz="1550" spc="85">
                <a:latin typeface="Arial MT"/>
                <a:cs typeface="Arial MT"/>
              </a:rPr>
              <a:t>projeto</a:t>
            </a:r>
            <a:r>
              <a:rPr dirty="0" sz="1550" spc="48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usa</a:t>
            </a:r>
            <a:r>
              <a:rPr dirty="0" sz="1550" spc="47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484">
                <a:latin typeface="Arial MT"/>
                <a:cs typeface="Arial MT"/>
              </a:rPr>
              <a:t> </a:t>
            </a:r>
            <a:r>
              <a:rPr dirty="0" sz="1550" spc="130">
                <a:latin typeface="Arial MT"/>
                <a:cs typeface="Arial MT"/>
              </a:rPr>
              <a:t>um</a:t>
            </a:r>
            <a:r>
              <a:rPr dirty="0" sz="1550" spc="4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ecossistema</a:t>
            </a:r>
            <a:r>
              <a:rPr dirty="0" sz="1550" spc="480">
                <a:latin typeface="Arial MT"/>
                <a:cs typeface="Arial MT"/>
              </a:rPr>
              <a:t> </a:t>
            </a:r>
            <a:r>
              <a:rPr dirty="0" sz="1550" spc="65">
                <a:latin typeface="Arial MT"/>
                <a:cs typeface="Arial MT"/>
              </a:rPr>
              <a:t>integrado</a:t>
            </a:r>
            <a:r>
              <a:rPr dirty="0" sz="1550" spc="35">
                <a:latin typeface="Arial MT"/>
                <a:cs typeface="Arial MT"/>
              </a:rPr>
              <a:t>  </a:t>
            </a:r>
            <a:r>
              <a:rPr dirty="0" sz="1550" spc="65">
                <a:latin typeface="Arial MT"/>
                <a:cs typeface="Arial MT"/>
              </a:rPr>
              <a:t>para</a:t>
            </a:r>
            <a:r>
              <a:rPr dirty="0" sz="1550" spc="48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garantir </a:t>
            </a:r>
            <a:r>
              <a:rPr dirty="0" sz="1550" spc="85">
                <a:latin typeface="Arial MT"/>
                <a:cs typeface="Arial MT"/>
              </a:rPr>
              <a:t>maior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 spc="20">
                <a:latin typeface="Arial MT"/>
                <a:cs typeface="Arial MT"/>
              </a:rPr>
              <a:t>conectividade,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20">
                <a:latin typeface="Arial MT"/>
                <a:cs typeface="Arial MT"/>
              </a:rPr>
              <a:t>esse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sistema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inclui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 spc="20">
                <a:latin typeface="Arial MT"/>
                <a:cs typeface="Arial MT"/>
              </a:rPr>
              <a:t>tecnologias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como: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30241" y="15712220"/>
            <a:ext cx="3629660" cy="225552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550" spc="45">
                <a:latin typeface="Arial MT"/>
                <a:cs typeface="Arial MT"/>
              </a:rPr>
              <a:t>Hardware:</a:t>
            </a:r>
            <a:endParaRPr sz="1550">
              <a:latin typeface="Arial MT"/>
              <a:cs typeface="Arial MT"/>
            </a:endParaRPr>
          </a:p>
          <a:p>
            <a:pPr marL="133985" indent="-121285">
              <a:lnSpc>
                <a:spcPct val="100000"/>
              </a:lnSpc>
              <a:spcBef>
                <a:spcPts val="270"/>
              </a:spcBef>
              <a:buChar char="•"/>
              <a:tabLst>
                <a:tab pos="133985" algn="l"/>
              </a:tabLst>
            </a:pPr>
            <a:r>
              <a:rPr dirty="0" sz="1550">
                <a:latin typeface="Arial MT"/>
                <a:cs typeface="Arial MT"/>
              </a:rPr>
              <a:t>Sensores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nível</a:t>
            </a:r>
            <a:r>
              <a:rPr dirty="0" sz="1550" spc="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peso</a:t>
            </a:r>
            <a:endParaRPr sz="1550">
              <a:latin typeface="Arial MT"/>
              <a:cs typeface="Arial MT"/>
            </a:endParaRPr>
          </a:p>
          <a:p>
            <a:pPr marL="133985" indent="-121285">
              <a:lnSpc>
                <a:spcPct val="100000"/>
              </a:lnSpc>
              <a:spcBef>
                <a:spcPts val="60"/>
              </a:spcBef>
              <a:buChar char="•"/>
              <a:tabLst>
                <a:tab pos="133985" algn="l"/>
              </a:tabLst>
            </a:pPr>
            <a:r>
              <a:rPr dirty="0" sz="1550" spc="75">
                <a:latin typeface="Arial MT"/>
                <a:cs typeface="Arial MT"/>
              </a:rPr>
              <a:t>Microcontrolador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Esp8266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 spc="40">
                <a:latin typeface="Arial MT"/>
                <a:cs typeface="Arial MT"/>
              </a:rPr>
              <a:t>Firmware:</a:t>
            </a:r>
            <a:endParaRPr sz="1550">
              <a:latin typeface="Arial MT"/>
              <a:cs typeface="Arial MT"/>
            </a:endParaRPr>
          </a:p>
          <a:p>
            <a:pPr marL="133985" indent="-121285">
              <a:lnSpc>
                <a:spcPct val="100000"/>
              </a:lnSpc>
              <a:spcBef>
                <a:spcPts val="25"/>
              </a:spcBef>
              <a:buChar char="•"/>
              <a:tabLst>
                <a:tab pos="133985" algn="l"/>
              </a:tabLst>
            </a:pPr>
            <a:r>
              <a:rPr dirty="0" sz="1550">
                <a:latin typeface="Arial MT"/>
                <a:cs typeface="Arial MT"/>
              </a:rPr>
              <a:t>Linguagem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-30">
                <a:latin typeface="Arial MT"/>
                <a:cs typeface="Arial MT"/>
              </a:rPr>
              <a:t>C++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(Arduíno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40">
                <a:latin typeface="Arial MT"/>
                <a:cs typeface="Arial MT"/>
              </a:rPr>
              <a:t>Framework)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50" spc="35">
                <a:latin typeface="Arial MT"/>
                <a:cs typeface="Arial MT"/>
              </a:rPr>
              <a:t>Interface:</a:t>
            </a:r>
            <a:endParaRPr sz="155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25"/>
              </a:spcBef>
              <a:buChar char="•"/>
              <a:tabLst>
                <a:tab pos="195580" algn="l"/>
              </a:tabLst>
            </a:pPr>
            <a:r>
              <a:rPr dirty="0" sz="1550" spc="45">
                <a:latin typeface="Arial MT"/>
                <a:cs typeface="Arial MT"/>
              </a:rPr>
              <a:t>Flutter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18599" y="5256529"/>
            <a:ext cx="5847080" cy="243332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2000"/>
              </a:lnSpc>
              <a:spcBef>
                <a:spcPts val="85"/>
              </a:spcBef>
            </a:pPr>
            <a:r>
              <a:rPr dirty="0" sz="1550" spc="50">
                <a:latin typeface="Arial MT"/>
                <a:cs typeface="Arial MT"/>
              </a:rPr>
              <a:t>Tutores</a:t>
            </a:r>
            <a:r>
              <a:rPr dirty="0" sz="1550" spc="12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110">
                <a:latin typeface="Arial MT"/>
                <a:cs typeface="Arial MT"/>
              </a:rPr>
              <a:t>  </a:t>
            </a:r>
            <a:r>
              <a:rPr dirty="0" sz="1550" spc="45">
                <a:latin typeface="Arial MT"/>
                <a:cs typeface="Arial MT"/>
              </a:rPr>
              <a:t>animais</a:t>
            </a:r>
            <a:r>
              <a:rPr dirty="0" sz="1550" spc="125">
                <a:latin typeface="Arial MT"/>
                <a:cs typeface="Arial MT"/>
              </a:rPr>
              <a:t>  </a:t>
            </a:r>
            <a:r>
              <a:rPr dirty="0" sz="1550" spc="85">
                <a:latin typeface="Arial MT"/>
                <a:cs typeface="Arial MT"/>
              </a:rPr>
              <a:t>enfrentam</a:t>
            </a:r>
            <a:r>
              <a:rPr dirty="0" sz="1550" spc="114">
                <a:latin typeface="Arial MT"/>
                <a:cs typeface="Arial MT"/>
              </a:rPr>
              <a:t>  </a:t>
            </a:r>
            <a:r>
              <a:rPr dirty="0" sz="1550" spc="45">
                <a:latin typeface="Arial MT"/>
                <a:cs typeface="Arial MT"/>
              </a:rPr>
              <a:t>grandes</a:t>
            </a:r>
            <a:r>
              <a:rPr dirty="0" sz="1550" spc="114">
                <a:latin typeface="Arial MT"/>
                <a:cs typeface="Arial MT"/>
              </a:rPr>
              <a:t>  </a:t>
            </a:r>
            <a:r>
              <a:rPr dirty="0" sz="1550" spc="50">
                <a:latin typeface="Arial MT"/>
                <a:cs typeface="Arial MT"/>
              </a:rPr>
              <a:t>dificuldades</a:t>
            </a:r>
            <a:r>
              <a:rPr dirty="0" sz="1550" spc="125">
                <a:latin typeface="Arial MT"/>
                <a:cs typeface="Arial MT"/>
              </a:rPr>
              <a:t>  </a:t>
            </a:r>
            <a:r>
              <a:rPr dirty="0" sz="1550" spc="45">
                <a:latin typeface="Arial MT"/>
                <a:cs typeface="Arial MT"/>
              </a:rPr>
              <a:t>para </a:t>
            </a:r>
            <a:r>
              <a:rPr dirty="0" sz="1550" spc="95">
                <a:latin typeface="Arial MT"/>
                <a:cs typeface="Arial MT"/>
              </a:rPr>
              <a:t>manter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regularidade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na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alimentação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seus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pets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devido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 spc="-50">
                <a:latin typeface="Arial MT"/>
                <a:cs typeface="Arial MT"/>
              </a:rPr>
              <a:t>a </a:t>
            </a:r>
            <a:r>
              <a:rPr dirty="0" sz="1550" spc="75">
                <a:latin typeface="Arial MT"/>
                <a:cs typeface="Arial MT"/>
              </a:rPr>
              <a:t>inúmeros</a:t>
            </a:r>
            <a:r>
              <a:rPr dirty="0" sz="1550" spc="270">
                <a:latin typeface="Arial MT"/>
                <a:cs typeface="Arial MT"/>
              </a:rPr>
              <a:t> </a:t>
            </a:r>
            <a:r>
              <a:rPr dirty="0" sz="1550" spc="80">
                <a:latin typeface="Arial MT"/>
                <a:cs typeface="Arial MT"/>
              </a:rPr>
              <a:t>impedimentos</a:t>
            </a:r>
            <a:r>
              <a:rPr dirty="0" sz="1550" spc="290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como</a:t>
            </a:r>
            <a:r>
              <a:rPr dirty="0" sz="1550" spc="27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jornadas</a:t>
            </a:r>
            <a:r>
              <a:rPr dirty="0" sz="1550" spc="29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265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trabalho</a:t>
            </a:r>
            <a:r>
              <a:rPr dirty="0" sz="1550" spc="28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longas, </a:t>
            </a:r>
            <a:r>
              <a:rPr dirty="0" sz="1550" spc="65">
                <a:latin typeface="Arial MT"/>
                <a:cs typeface="Arial MT"/>
              </a:rPr>
              <a:t>rotinas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variáveis,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imprevistos.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Essa</a:t>
            </a:r>
            <a:r>
              <a:rPr dirty="0" sz="1550" spc="490">
                <a:latin typeface="Arial MT"/>
                <a:cs typeface="Arial MT"/>
              </a:rPr>
              <a:t> </a:t>
            </a:r>
            <a:r>
              <a:rPr dirty="0" sz="1550" spc="60">
                <a:latin typeface="Arial MT"/>
                <a:cs typeface="Arial MT"/>
              </a:rPr>
              <a:t>falta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 spc="70">
                <a:latin typeface="Arial MT"/>
                <a:cs typeface="Arial MT"/>
              </a:rPr>
              <a:t>controle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pode gerar</a:t>
            </a:r>
            <a:r>
              <a:rPr dirty="0" sz="1550" spc="18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sérios</a:t>
            </a:r>
            <a:r>
              <a:rPr dirty="0" sz="1550" spc="175">
                <a:latin typeface="Arial MT"/>
                <a:cs typeface="Arial MT"/>
              </a:rPr>
              <a:t>  </a:t>
            </a:r>
            <a:r>
              <a:rPr dirty="0" sz="1550" spc="60">
                <a:latin typeface="Arial MT"/>
                <a:cs typeface="Arial MT"/>
              </a:rPr>
              <a:t>problemas,</a:t>
            </a:r>
            <a:r>
              <a:rPr dirty="0" sz="1550" spc="175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como</a:t>
            </a:r>
            <a:r>
              <a:rPr dirty="0" sz="1550" spc="18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8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dificuldade</a:t>
            </a:r>
            <a:r>
              <a:rPr dirty="0" sz="1550" spc="185">
                <a:latin typeface="Arial MT"/>
                <a:cs typeface="Arial MT"/>
              </a:rPr>
              <a:t>  </a:t>
            </a:r>
            <a:r>
              <a:rPr dirty="0" sz="1550" spc="95">
                <a:latin typeface="Arial MT"/>
                <a:cs typeface="Arial MT"/>
              </a:rPr>
              <a:t>em</a:t>
            </a:r>
            <a:r>
              <a:rPr dirty="0" sz="1550" spc="175">
                <a:latin typeface="Arial MT"/>
                <a:cs typeface="Arial MT"/>
              </a:rPr>
              <a:t>  </a:t>
            </a:r>
            <a:r>
              <a:rPr dirty="0" sz="1550" spc="85">
                <a:latin typeface="Arial MT"/>
                <a:cs typeface="Arial MT"/>
              </a:rPr>
              <a:t>manter </a:t>
            </a:r>
            <a:r>
              <a:rPr dirty="0" sz="1550" spc="65">
                <a:latin typeface="Arial MT"/>
                <a:cs typeface="Arial MT"/>
              </a:rPr>
              <a:t>horários</a:t>
            </a:r>
            <a:r>
              <a:rPr dirty="0" sz="1550" spc="35">
                <a:latin typeface="Arial MT"/>
                <a:cs typeface="Arial MT"/>
              </a:rPr>
              <a:t>  </a:t>
            </a:r>
            <a:r>
              <a:rPr dirty="0" sz="1550" spc="50">
                <a:latin typeface="Arial MT"/>
                <a:cs typeface="Arial MT"/>
              </a:rPr>
              <a:t>fixos</a:t>
            </a:r>
            <a:r>
              <a:rPr dirty="0" sz="1550" spc="3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35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4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risco</a:t>
            </a:r>
            <a:r>
              <a:rPr dirty="0" sz="1550" spc="49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490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obesidade</a:t>
            </a:r>
            <a:r>
              <a:rPr dirty="0" sz="1550" spc="490">
                <a:latin typeface="Arial MT"/>
                <a:cs typeface="Arial MT"/>
              </a:rPr>
              <a:t> </a:t>
            </a:r>
            <a:r>
              <a:rPr dirty="0" sz="1550" spc="80">
                <a:latin typeface="Arial MT"/>
                <a:cs typeface="Arial MT"/>
              </a:rPr>
              <a:t>ou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desnutrição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por </a:t>
            </a:r>
            <a:r>
              <a:rPr dirty="0" sz="1550" spc="50">
                <a:latin typeface="Arial MT"/>
                <a:cs typeface="Arial MT"/>
              </a:rPr>
              <a:t>porções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imprecisas.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550">
              <a:latin typeface="Arial MT"/>
              <a:cs typeface="Arial MT"/>
            </a:endParaRPr>
          </a:p>
          <a:p>
            <a:pPr algn="just" marL="12700" marR="7620">
              <a:lnSpc>
                <a:spcPct val="101400"/>
              </a:lnSpc>
            </a:pPr>
            <a:r>
              <a:rPr dirty="0" sz="1550">
                <a:latin typeface="Arial MT"/>
                <a:cs typeface="Arial MT"/>
              </a:rPr>
              <a:t>Além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disso,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impossibilidade</a:t>
            </a:r>
            <a:r>
              <a:rPr dirty="0" sz="1550" spc="26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alimentar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 spc="85">
                <a:latin typeface="Arial MT"/>
                <a:cs typeface="Arial MT"/>
              </a:rPr>
              <a:t>o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pet</a:t>
            </a:r>
            <a:r>
              <a:rPr dirty="0" sz="1550" spc="2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à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distância </a:t>
            </a:r>
            <a:r>
              <a:rPr dirty="0" sz="1550">
                <a:latin typeface="Arial MT"/>
                <a:cs typeface="Arial MT"/>
              </a:rPr>
              <a:t>causa</a:t>
            </a:r>
            <a:r>
              <a:rPr dirty="0" sz="1550" spc="335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ansiedade</a:t>
            </a:r>
            <a:r>
              <a:rPr dirty="0" sz="1550" spc="3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nos</a:t>
            </a:r>
            <a:r>
              <a:rPr dirty="0" sz="1550" spc="345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animais</a:t>
            </a:r>
            <a:r>
              <a:rPr dirty="0" sz="1550" spc="3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335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preocupação</a:t>
            </a:r>
            <a:r>
              <a:rPr dirty="0" sz="1550" spc="350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constante</a:t>
            </a:r>
            <a:r>
              <a:rPr dirty="0" sz="1550" spc="350">
                <a:latin typeface="Arial MT"/>
                <a:cs typeface="Arial MT"/>
              </a:rPr>
              <a:t> </a:t>
            </a:r>
            <a:r>
              <a:rPr dirty="0" sz="1550" spc="-25">
                <a:latin typeface="Arial MT"/>
                <a:cs typeface="Arial MT"/>
              </a:rPr>
              <a:t>nos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18599" y="7668342"/>
            <a:ext cx="5847715" cy="9874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02000"/>
              </a:lnSpc>
              <a:spcBef>
                <a:spcPts val="80"/>
              </a:spcBef>
            </a:pPr>
            <a:r>
              <a:rPr dirty="0" sz="1550" spc="70">
                <a:latin typeface="Arial MT"/>
                <a:cs typeface="Arial MT"/>
              </a:rPr>
              <a:t>tutores.</a:t>
            </a:r>
            <a:r>
              <a:rPr dirty="0" sz="1550" spc="1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Tendo</a:t>
            </a:r>
            <a:r>
              <a:rPr dirty="0" sz="1550" spc="170">
                <a:latin typeface="Arial MT"/>
                <a:cs typeface="Arial MT"/>
              </a:rPr>
              <a:t>  </a:t>
            </a:r>
            <a:r>
              <a:rPr dirty="0" sz="1550" spc="95">
                <a:latin typeface="Arial MT"/>
                <a:cs typeface="Arial MT"/>
              </a:rPr>
              <a:t>em</a:t>
            </a:r>
            <a:r>
              <a:rPr dirty="0" sz="1550" spc="1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vista</a:t>
            </a:r>
            <a:r>
              <a:rPr dirty="0" sz="1550" spc="16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as</a:t>
            </a:r>
            <a:r>
              <a:rPr dirty="0" sz="1550" spc="17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soluções</a:t>
            </a:r>
            <a:r>
              <a:rPr dirty="0" sz="1550" spc="1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atuais</a:t>
            </a:r>
            <a:r>
              <a:rPr dirty="0" sz="1550" spc="160">
                <a:latin typeface="Arial MT"/>
                <a:cs typeface="Arial MT"/>
              </a:rPr>
              <a:t>  </a:t>
            </a:r>
            <a:r>
              <a:rPr dirty="0" sz="1550" spc="90">
                <a:latin typeface="Arial MT"/>
                <a:cs typeface="Arial MT"/>
              </a:rPr>
              <a:t>no</a:t>
            </a:r>
            <a:r>
              <a:rPr dirty="0" sz="1550" spc="160">
                <a:latin typeface="Arial MT"/>
                <a:cs typeface="Arial MT"/>
              </a:rPr>
              <a:t>  </a:t>
            </a:r>
            <a:r>
              <a:rPr dirty="0" sz="1550" spc="60">
                <a:latin typeface="Arial MT"/>
                <a:cs typeface="Arial MT"/>
              </a:rPr>
              <a:t>mercado </a:t>
            </a:r>
            <a:r>
              <a:rPr dirty="0" sz="1550" spc="50">
                <a:latin typeface="Arial MT"/>
                <a:cs typeface="Arial MT"/>
              </a:rPr>
              <a:t>brasileiro,</a:t>
            </a:r>
            <a:r>
              <a:rPr dirty="0" sz="1550" spc="385">
                <a:latin typeface="Arial MT"/>
                <a:cs typeface="Arial MT"/>
              </a:rPr>
              <a:t>   </a:t>
            </a:r>
            <a:r>
              <a:rPr dirty="0" sz="1550">
                <a:latin typeface="Arial MT"/>
                <a:cs typeface="Arial MT"/>
              </a:rPr>
              <a:t>veos</a:t>
            </a:r>
            <a:r>
              <a:rPr dirty="0" sz="1550" spc="380">
                <a:latin typeface="Arial MT"/>
                <a:cs typeface="Arial MT"/>
              </a:rPr>
              <a:t>  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385">
                <a:latin typeface="Arial MT"/>
                <a:cs typeface="Arial MT"/>
              </a:rPr>
              <a:t>   </a:t>
            </a:r>
            <a:r>
              <a:rPr dirty="0" sz="1550" spc="70">
                <a:latin typeface="Arial MT"/>
                <a:cs typeface="Arial MT"/>
              </a:rPr>
              <a:t>muitas</a:t>
            </a:r>
            <a:r>
              <a:rPr dirty="0" sz="1550" spc="390">
                <a:latin typeface="Arial MT"/>
                <a:cs typeface="Arial MT"/>
              </a:rPr>
              <a:t>   </a:t>
            </a:r>
            <a:r>
              <a:rPr dirty="0" sz="1550">
                <a:latin typeface="Arial MT"/>
                <a:cs typeface="Arial MT"/>
              </a:rPr>
              <a:t>vezes</a:t>
            </a:r>
            <a:r>
              <a:rPr dirty="0" sz="1550" spc="385">
                <a:latin typeface="Arial MT"/>
                <a:cs typeface="Arial MT"/>
              </a:rPr>
              <a:t>   </a:t>
            </a:r>
            <a:r>
              <a:rPr dirty="0" sz="1550">
                <a:latin typeface="Arial MT"/>
                <a:cs typeface="Arial MT"/>
              </a:rPr>
              <a:t>os</a:t>
            </a:r>
            <a:r>
              <a:rPr dirty="0" sz="1550" spc="390">
                <a:latin typeface="Arial MT"/>
                <a:cs typeface="Arial MT"/>
              </a:rPr>
              <a:t>   </a:t>
            </a:r>
            <a:r>
              <a:rPr dirty="0" sz="1550" spc="75">
                <a:latin typeface="Arial MT"/>
                <a:cs typeface="Arial MT"/>
              </a:rPr>
              <a:t>produtos </a:t>
            </a:r>
            <a:r>
              <a:rPr dirty="0" sz="1550" spc="50">
                <a:latin typeface="Arial MT"/>
                <a:cs typeface="Arial MT"/>
              </a:rPr>
              <a:t>oferecidos</a:t>
            </a:r>
            <a:r>
              <a:rPr dirty="0" sz="1550" spc="75">
                <a:latin typeface="Arial MT"/>
                <a:cs typeface="Arial MT"/>
              </a:rPr>
              <a:t>  </a:t>
            </a:r>
            <a:r>
              <a:rPr dirty="0" sz="1550" spc="50">
                <a:latin typeface="Arial MT"/>
                <a:cs typeface="Arial MT"/>
              </a:rPr>
              <a:t>pecam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pela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falta</a:t>
            </a:r>
            <a:r>
              <a:rPr dirty="0" sz="1550" spc="7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precisão,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 spc="50">
                <a:latin typeface="Arial MT"/>
                <a:cs typeface="Arial MT"/>
              </a:rPr>
              <a:t>interfaces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 spc="45">
                <a:latin typeface="Arial MT"/>
                <a:cs typeface="Arial MT"/>
              </a:rPr>
              <a:t>pouco </a:t>
            </a:r>
            <a:r>
              <a:rPr dirty="0" sz="1550" spc="55">
                <a:latin typeface="Arial MT"/>
                <a:cs typeface="Arial MT"/>
              </a:rPr>
              <a:t>intuitivas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 spc="80">
                <a:latin typeface="Arial MT"/>
                <a:cs typeface="Arial MT"/>
              </a:rPr>
              <a:t>ou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altos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custos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importação.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49211" y="10028594"/>
            <a:ext cx="5874385" cy="31597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1800"/>
              </a:lnSpc>
              <a:spcBef>
                <a:spcPts val="85"/>
              </a:spcBef>
            </a:pPr>
            <a:r>
              <a:rPr dirty="0" sz="1550">
                <a:latin typeface="Arial MT"/>
                <a:cs typeface="Arial MT"/>
              </a:rPr>
              <a:t>O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nosso</a:t>
            </a:r>
            <a:r>
              <a:rPr dirty="0" sz="1550" spc="85">
                <a:latin typeface="Arial MT"/>
                <a:cs typeface="Arial MT"/>
              </a:rPr>
              <a:t> produto,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 spc="-55">
                <a:latin typeface="Arial Black"/>
                <a:cs typeface="Arial Black"/>
              </a:rPr>
              <a:t>PetButler</a:t>
            </a:r>
            <a:r>
              <a:rPr dirty="0" sz="1550" spc="20">
                <a:latin typeface="Arial Black"/>
                <a:cs typeface="Arial Black"/>
              </a:rPr>
              <a:t> </a:t>
            </a:r>
            <a:r>
              <a:rPr dirty="0" sz="1550">
                <a:latin typeface="Arial MT"/>
                <a:cs typeface="Arial MT"/>
              </a:rPr>
              <a:t>é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 spc="130">
                <a:latin typeface="Arial MT"/>
                <a:cs typeface="Arial MT"/>
              </a:rPr>
              <a:t>um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alimentador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inteligente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-50">
                <a:latin typeface="Arial MT"/>
                <a:cs typeface="Arial MT"/>
              </a:rPr>
              <a:t>e </a:t>
            </a:r>
            <a:r>
              <a:rPr dirty="0" sz="1550" spc="60">
                <a:latin typeface="Arial MT"/>
                <a:cs typeface="Arial MT"/>
              </a:rPr>
              <a:t>programável</a:t>
            </a:r>
            <a:r>
              <a:rPr dirty="0" sz="1550" spc="32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3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conecta</a:t>
            </a:r>
            <a:r>
              <a:rPr dirty="0" sz="1550" spc="325">
                <a:latin typeface="Arial MT"/>
                <a:cs typeface="Arial MT"/>
              </a:rPr>
              <a:t> </a:t>
            </a:r>
            <a:r>
              <a:rPr dirty="0" sz="1550" spc="85">
                <a:latin typeface="Arial MT"/>
                <a:cs typeface="Arial MT"/>
              </a:rPr>
              <a:t>o</a:t>
            </a:r>
            <a:r>
              <a:rPr dirty="0" sz="1550" spc="335">
                <a:latin typeface="Arial MT"/>
                <a:cs typeface="Arial MT"/>
              </a:rPr>
              <a:t> </a:t>
            </a:r>
            <a:r>
              <a:rPr dirty="0" sz="1550" spc="110">
                <a:latin typeface="Arial MT"/>
                <a:cs typeface="Arial MT"/>
              </a:rPr>
              <a:t>tutor</a:t>
            </a:r>
            <a:r>
              <a:rPr dirty="0" sz="1550" spc="3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ao</a:t>
            </a:r>
            <a:r>
              <a:rPr dirty="0" sz="1550" spc="3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seu</a:t>
            </a:r>
            <a:r>
              <a:rPr dirty="0" sz="1550" spc="34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pet</a:t>
            </a:r>
            <a:r>
              <a:rPr dirty="0" sz="1550" spc="3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através</a:t>
            </a:r>
            <a:r>
              <a:rPr dirty="0" sz="1550" spc="34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335">
                <a:latin typeface="Arial MT"/>
                <a:cs typeface="Arial MT"/>
              </a:rPr>
              <a:t> </a:t>
            </a:r>
            <a:r>
              <a:rPr dirty="0" sz="1550" spc="110">
                <a:latin typeface="Arial MT"/>
                <a:cs typeface="Arial MT"/>
              </a:rPr>
              <a:t>um </a:t>
            </a:r>
            <a:r>
              <a:rPr dirty="0" sz="1550">
                <a:latin typeface="Arial MT"/>
                <a:cs typeface="Arial MT"/>
              </a:rPr>
              <a:t>aplicativo</a:t>
            </a:r>
            <a:r>
              <a:rPr dirty="0" sz="1550" spc="240">
                <a:latin typeface="Arial MT"/>
                <a:cs typeface="Arial MT"/>
              </a:rPr>
              <a:t>  </a:t>
            </a:r>
            <a:r>
              <a:rPr dirty="0" sz="1550" spc="65">
                <a:latin typeface="Arial MT"/>
                <a:cs typeface="Arial MT"/>
              </a:rPr>
              <a:t>móvel</a:t>
            </a:r>
            <a:r>
              <a:rPr dirty="0" sz="1550" spc="245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2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fácil</a:t>
            </a:r>
            <a:r>
              <a:rPr dirty="0" sz="1550" spc="23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uso.</a:t>
            </a:r>
            <a:r>
              <a:rPr dirty="0" sz="1550" spc="2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Nossa</a:t>
            </a:r>
            <a:r>
              <a:rPr dirty="0" sz="1550" spc="24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solução</a:t>
            </a:r>
            <a:r>
              <a:rPr dirty="0" sz="1550" spc="245">
                <a:latin typeface="Arial MT"/>
                <a:cs typeface="Arial MT"/>
              </a:rPr>
              <a:t>  </a:t>
            </a:r>
            <a:r>
              <a:rPr dirty="0" sz="1550" spc="90">
                <a:latin typeface="Arial MT"/>
                <a:cs typeface="Arial MT"/>
              </a:rPr>
              <a:t>permite</a:t>
            </a:r>
            <a:r>
              <a:rPr dirty="0" sz="1550" spc="245">
                <a:latin typeface="Arial MT"/>
                <a:cs typeface="Arial MT"/>
              </a:rPr>
              <a:t>  </a:t>
            </a:r>
            <a:r>
              <a:rPr dirty="0" sz="1550" spc="25">
                <a:latin typeface="Arial MT"/>
                <a:cs typeface="Arial MT"/>
              </a:rPr>
              <a:t>o </a:t>
            </a:r>
            <a:r>
              <a:rPr dirty="0" sz="1550" spc="65">
                <a:latin typeface="Arial MT"/>
                <a:cs typeface="Arial MT"/>
              </a:rPr>
              <a:t>controle</a:t>
            </a:r>
            <a:r>
              <a:rPr dirty="0" sz="1550" spc="75">
                <a:latin typeface="Arial MT"/>
                <a:cs typeface="Arial MT"/>
              </a:rPr>
              <a:t>  </a:t>
            </a:r>
            <a:r>
              <a:rPr dirty="0" sz="1550" spc="105">
                <a:latin typeface="Arial MT"/>
                <a:cs typeface="Arial MT"/>
              </a:rPr>
              <a:t>remoto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 spc="95">
                <a:latin typeface="Arial MT"/>
                <a:cs typeface="Arial MT"/>
              </a:rPr>
              <a:t>em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 spc="100">
                <a:latin typeface="Arial MT"/>
                <a:cs typeface="Arial MT"/>
              </a:rPr>
              <a:t>tempo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real,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 spc="70">
                <a:latin typeface="Arial MT"/>
                <a:cs typeface="Arial MT"/>
              </a:rPr>
              <a:t>garantindo</a:t>
            </a:r>
            <a:r>
              <a:rPr dirty="0" sz="1550" spc="70">
                <a:latin typeface="Arial MT"/>
                <a:cs typeface="Arial MT"/>
              </a:rPr>
              <a:t>  </a:t>
            </a:r>
            <a:r>
              <a:rPr dirty="0" sz="1550" spc="60">
                <a:latin typeface="Arial MT"/>
                <a:cs typeface="Arial MT"/>
              </a:rPr>
              <a:t>praticidade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 spc="-50">
                <a:latin typeface="Arial MT"/>
                <a:cs typeface="Arial MT"/>
              </a:rPr>
              <a:t>e </a:t>
            </a:r>
            <a:r>
              <a:rPr dirty="0" sz="1550">
                <a:latin typeface="Arial MT"/>
                <a:cs typeface="Arial MT"/>
              </a:rPr>
              <a:t>segurança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na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65">
                <a:latin typeface="Arial MT"/>
                <a:cs typeface="Arial MT"/>
              </a:rPr>
              <a:t>palma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da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mão.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550">
              <a:latin typeface="Arial MT"/>
              <a:cs typeface="Arial MT"/>
            </a:endParaRPr>
          </a:p>
          <a:p>
            <a:pPr algn="just" marL="12700" marR="5080">
              <a:lnSpc>
                <a:spcPct val="102299"/>
              </a:lnSpc>
            </a:pPr>
            <a:r>
              <a:rPr dirty="0" sz="1550">
                <a:latin typeface="Arial MT"/>
                <a:cs typeface="Arial MT"/>
              </a:rPr>
              <a:t>Através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do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controle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 spc="65">
                <a:latin typeface="Arial MT"/>
                <a:cs typeface="Arial MT"/>
              </a:rPr>
              <a:t>automatizado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porções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programação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135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horários,</a:t>
            </a:r>
            <a:r>
              <a:rPr dirty="0" sz="1550" spc="135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140">
                <a:latin typeface="Arial MT"/>
                <a:cs typeface="Arial MT"/>
              </a:rPr>
              <a:t>  </a:t>
            </a:r>
            <a:r>
              <a:rPr dirty="0" sz="1550" spc="100">
                <a:latin typeface="Arial MT"/>
                <a:cs typeface="Arial MT"/>
              </a:rPr>
              <a:t>produto</a:t>
            </a:r>
            <a:r>
              <a:rPr dirty="0" sz="1550" spc="150">
                <a:latin typeface="Arial MT"/>
                <a:cs typeface="Arial MT"/>
              </a:rPr>
              <a:t>  </a:t>
            </a:r>
            <a:r>
              <a:rPr dirty="0" sz="1550" spc="80">
                <a:latin typeface="Arial MT"/>
                <a:cs typeface="Arial MT"/>
              </a:rPr>
              <a:t>promove</a:t>
            </a:r>
            <a:r>
              <a:rPr dirty="0" sz="1550" spc="140">
                <a:latin typeface="Arial MT"/>
                <a:cs typeface="Arial MT"/>
              </a:rPr>
              <a:t>  </a:t>
            </a:r>
            <a:r>
              <a:rPr dirty="0" sz="1550" spc="90">
                <a:latin typeface="Arial MT"/>
                <a:cs typeface="Arial MT"/>
              </a:rPr>
              <a:t>uma</a:t>
            </a:r>
            <a:r>
              <a:rPr dirty="0" sz="1550" spc="140">
                <a:latin typeface="Arial MT"/>
                <a:cs typeface="Arial MT"/>
              </a:rPr>
              <a:t>  </a:t>
            </a:r>
            <a:r>
              <a:rPr dirty="0" sz="1550" spc="80">
                <a:latin typeface="Arial MT"/>
                <a:cs typeface="Arial MT"/>
              </a:rPr>
              <a:t>rotina</a:t>
            </a:r>
            <a:r>
              <a:rPr dirty="0" sz="1550" spc="1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saudável</a:t>
            </a:r>
            <a:r>
              <a:rPr dirty="0" sz="1550" spc="135">
                <a:latin typeface="Arial MT"/>
                <a:cs typeface="Arial MT"/>
              </a:rPr>
              <a:t>  </a:t>
            </a:r>
            <a:r>
              <a:rPr dirty="0" sz="1550" spc="-50">
                <a:latin typeface="Arial MT"/>
                <a:cs typeface="Arial MT"/>
              </a:rPr>
              <a:t>e </a:t>
            </a:r>
            <a:r>
              <a:rPr dirty="0" sz="1550" spc="45">
                <a:latin typeface="Arial MT"/>
                <a:cs typeface="Arial MT"/>
              </a:rPr>
              <a:t>constante,</a:t>
            </a:r>
            <a:r>
              <a:rPr dirty="0" sz="1550" spc="1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15">
                <a:latin typeface="Arial MT"/>
                <a:cs typeface="Arial MT"/>
              </a:rPr>
              <a:t> </a:t>
            </a:r>
            <a:r>
              <a:rPr dirty="0" sz="1550" spc="80">
                <a:latin typeface="Arial MT"/>
                <a:cs typeface="Arial MT"/>
              </a:rPr>
              <a:t>melhora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 spc="60">
                <a:latin typeface="Arial MT"/>
                <a:cs typeface="Arial MT"/>
              </a:rPr>
              <a:t>qualidade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vida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do</a:t>
            </a:r>
            <a:r>
              <a:rPr dirty="0" sz="1550" spc="1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animal.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Vemos </a:t>
            </a:r>
            <a:r>
              <a:rPr dirty="0" sz="1550" spc="50">
                <a:latin typeface="Arial MT"/>
                <a:cs typeface="Arial MT"/>
              </a:rPr>
              <a:t>mais</a:t>
            </a:r>
            <a:r>
              <a:rPr dirty="0" sz="1550" spc="200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do</a:t>
            </a:r>
            <a:r>
              <a:rPr dirty="0" sz="1550" spc="20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 spc="130">
                <a:latin typeface="Arial MT"/>
                <a:cs typeface="Arial MT"/>
              </a:rPr>
              <a:t>um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dispositivo,</a:t>
            </a:r>
            <a:r>
              <a:rPr dirty="0" sz="1550" spc="210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pois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 spc="85">
                <a:latin typeface="Arial MT"/>
                <a:cs typeface="Arial MT"/>
              </a:rPr>
              <a:t>o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PetButler</a:t>
            </a:r>
            <a:r>
              <a:rPr dirty="0" sz="1550" spc="210">
                <a:latin typeface="Arial MT"/>
                <a:cs typeface="Arial MT"/>
              </a:rPr>
              <a:t> </a:t>
            </a:r>
            <a:r>
              <a:rPr dirty="0" sz="1550" spc="60">
                <a:latin typeface="Arial MT"/>
                <a:cs typeface="Arial MT"/>
              </a:rPr>
              <a:t>atua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como</a:t>
            </a:r>
            <a:r>
              <a:rPr dirty="0" sz="1550" spc="210">
                <a:latin typeface="Arial MT"/>
                <a:cs typeface="Arial MT"/>
              </a:rPr>
              <a:t> </a:t>
            </a:r>
            <a:r>
              <a:rPr dirty="0" sz="1550" spc="110">
                <a:latin typeface="Arial MT"/>
                <a:cs typeface="Arial MT"/>
              </a:rPr>
              <a:t>um </a:t>
            </a:r>
            <a:r>
              <a:rPr dirty="0" sz="1550">
                <a:latin typeface="Arial MT"/>
                <a:cs typeface="Arial MT"/>
              </a:rPr>
              <a:t>assistente</a:t>
            </a:r>
            <a:r>
              <a:rPr dirty="0" sz="1550" spc="14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na</a:t>
            </a:r>
            <a:r>
              <a:rPr dirty="0" sz="1550" spc="130">
                <a:latin typeface="Arial MT"/>
                <a:cs typeface="Arial MT"/>
              </a:rPr>
              <a:t>  </a:t>
            </a:r>
            <a:r>
              <a:rPr dirty="0" sz="1550" spc="65">
                <a:latin typeface="Arial MT"/>
                <a:cs typeface="Arial MT"/>
              </a:rPr>
              <a:t>rotina,</a:t>
            </a:r>
            <a:r>
              <a:rPr dirty="0" sz="1550" spc="135">
                <a:latin typeface="Arial MT"/>
                <a:cs typeface="Arial MT"/>
              </a:rPr>
              <a:t>  </a:t>
            </a:r>
            <a:r>
              <a:rPr dirty="0" sz="1550" spc="60">
                <a:latin typeface="Arial MT"/>
                <a:cs typeface="Arial MT"/>
              </a:rPr>
              <a:t>trazendo</a:t>
            </a:r>
            <a:r>
              <a:rPr dirty="0" sz="1550" spc="140">
                <a:latin typeface="Arial MT"/>
                <a:cs typeface="Arial MT"/>
              </a:rPr>
              <a:t>  </a:t>
            </a:r>
            <a:r>
              <a:rPr dirty="0" sz="1550" spc="70">
                <a:latin typeface="Arial MT"/>
                <a:cs typeface="Arial MT"/>
              </a:rPr>
              <a:t>tranquilidade</a:t>
            </a:r>
            <a:r>
              <a:rPr dirty="0" sz="1550" spc="135">
                <a:latin typeface="Arial MT"/>
                <a:cs typeface="Arial MT"/>
              </a:rPr>
              <a:t>  </a:t>
            </a:r>
            <a:r>
              <a:rPr dirty="0" sz="1550" spc="65">
                <a:latin typeface="Arial MT"/>
                <a:cs typeface="Arial MT"/>
              </a:rPr>
              <a:t>para</a:t>
            </a:r>
            <a:r>
              <a:rPr dirty="0" sz="1550" spc="125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135">
                <a:latin typeface="Arial MT"/>
                <a:cs typeface="Arial MT"/>
              </a:rPr>
              <a:t>  </a:t>
            </a:r>
            <a:r>
              <a:rPr dirty="0" sz="1550" spc="100">
                <a:latin typeface="Arial MT"/>
                <a:cs typeface="Arial MT"/>
              </a:rPr>
              <a:t>tutor </a:t>
            </a:r>
            <a:r>
              <a:rPr dirty="0" sz="1550" spc="85">
                <a:latin typeface="Arial MT"/>
                <a:cs typeface="Arial MT"/>
              </a:rPr>
              <a:t>mesmo</a:t>
            </a:r>
            <a:r>
              <a:rPr dirty="0" sz="1550" spc="290">
                <a:latin typeface="Arial MT"/>
                <a:cs typeface="Arial MT"/>
              </a:rPr>
              <a:t> </a:t>
            </a:r>
            <a:r>
              <a:rPr dirty="0" sz="1550" spc="80">
                <a:latin typeface="Arial MT"/>
                <a:cs typeface="Arial MT"/>
              </a:rPr>
              <a:t>quando</a:t>
            </a:r>
            <a:r>
              <a:rPr dirty="0" sz="1550" spc="2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ele</a:t>
            </a:r>
            <a:r>
              <a:rPr dirty="0" sz="1550" spc="310">
                <a:latin typeface="Arial MT"/>
                <a:cs typeface="Arial MT"/>
              </a:rPr>
              <a:t> </a:t>
            </a:r>
            <a:r>
              <a:rPr dirty="0" sz="1550" spc="60">
                <a:latin typeface="Arial MT"/>
                <a:cs typeface="Arial MT"/>
              </a:rPr>
              <a:t>não</a:t>
            </a:r>
            <a:r>
              <a:rPr dirty="0" sz="1550" spc="305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pode</a:t>
            </a:r>
            <a:r>
              <a:rPr dirty="0" sz="1550" spc="3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estar</a:t>
            </a:r>
            <a:r>
              <a:rPr dirty="0" sz="1550" spc="315">
                <a:latin typeface="Arial MT"/>
                <a:cs typeface="Arial MT"/>
              </a:rPr>
              <a:t> </a:t>
            </a:r>
            <a:r>
              <a:rPr dirty="0" sz="1550" spc="95">
                <a:latin typeface="Arial MT"/>
                <a:cs typeface="Arial MT"/>
              </a:rPr>
              <a:t>em</a:t>
            </a:r>
            <a:r>
              <a:rPr dirty="0" sz="1550" spc="2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casa</a:t>
            </a:r>
            <a:r>
              <a:rPr dirty="0" sz="1550" spc="3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305">
                <a:latin typeface="Arial MT"/>
                <a:cs typeface="Arial MT"/>
              </a:rPr>
              <a:t> </a:t>
            </a:r>
            <a:r>
              <a:rPr dirty="0" sz="1550" spc="130">
                <a:latin typeface="Arial MT"/>
                <a:cs typeface="Arial MT"/>
              </a:rPr>
              <a:t>um</a:t>
            </a:r>
            <a:r>
              <a:rPr dirty="0" sz="1550" spc="305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conforto </a:t>
            </a:r>
            <a:r>
              <a:rPr dirty="0" sz="1550" spc="65">
                <a:latin typeface="Arial MT"/>
                <a:cs typeface="Arial MT"/>
              </a:rPr>
              <a:t>para</a:t>
            </a:r>
            <a:r>
              <a:rPr dirty="0" sz="1550" spc="-30">
                <a:latin typeface="Arial MT"/>
                <a:cs typeface="Arial MT"/>
              </a:rPr>
              <a:t> </a:t>
            </a:r>
            <a:r>
              <a:rPr dirty="0" sz="1550" spc="85">
                <a:latin typeface="Arial MT"/>
                <a:cs typeface="Arial MT"/>
              </a:rPr>
              <a:t>o</a:t>
            </a:r>
            <a:r>
              <a:rPr dirty="0" sz="1550" spc="-15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animal.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811920" y="18392361"/>
            <a:ext cx="7649209" cy="101028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215"/>
              </a:spcBef>
            </a:pPr>
            <a:r>
              <a:rPr dirty="0" sz="2300" spc="-215">
                <a:latin typeface="Arial Black"/>
                <a:cs typeface="Arial Black"/>
              </a:rPr>
              <a:t>IV</a:t>
            </a:r>
            <a:r>
              <a:rPr dirty="0" sz="2300" spc="-155">
                <a:latin typeface="Arial Black"/>
                <a:cs typeface="Arial Black"/>
              </a:rPr>
              <a:t> </a:t>
            </a:r>
            <a:r>
              <a:rPr dirty="0" sz="2300" spc="-215">
                <a:latin typeface="Arial Black"/>
                <a:cs typeface="Arial Black"/>
              </a:rPr>
              <a:t>SEMANA</a:t>
            </a:r>
            <a:r>
              <a:rPr dirty="0" sz="2300" spc="-155">
                <a:latin typeface="Arial Black"/>
                <a:cs typeface="Arial Black"/>
              </a:rPr>
              <a:t> </a:t>
            </a:r>
            <a:r>
              <a:rPr dirty="0" sz="2300" spc="-290">
                <a:latin typeface="Arial Black"/>
                <a:cs typeface="Arial Black"/>
              </a:rPr>
              <a:t>FECAP</a:t>
            </a:r>
            <a:r>
              <a:rPr dirty="0" sz="2300" spc="-180">
                <a:latin typeface="Arial Black"/>
                <a:cs typeface="Arial Black"/>
              </a:rPr>
              <a:t> </a:t>
            </a:r>
            <a:r>
              <a:rPr dirty="0" sz="2300" spc="-250">
                <a:latin typeface="Arial Black"/>
                <a:cs typeface="Arial Black"/>
              </a:rPr>
              <a:t>DE</a:t>
            </a:r>
            <a:r>
              <a:rPr dirty="0" sz="2300" spc="-165">
                <a:latin typeface="Arial Black"/>
                <a:cs typeface="Arial Black"/>
              </a:rPr>
              <a:t> </a:t>
            </a:r>
            <a:r>
              <a:rPr dirty="0" sz="2300" spc="-215">
                <a:latin typeface="Arial Black"/>
                <a:cs typeface="Arial Black"/>
              </a:rPr>
              <a:t>TECNOLOGIA</a:t>
            </a:r>
            <a:r>
              <a:rPr dirty="0" sz="2300" spc="-155">
                <a:latin typeface="Arial Black"/>
                <a:cs typeface="Arial Black"/>
              </a:rPr>
              <a:t> </a:t>
            </a:r>
            <a:r>
              <a:rPr dirty="0" sz="2300">
                <a:latin typeface="Arial Black"/>
                <a:cs typeface="Arial Black"/>
              </a:rPr>
              <a:t>-</a:t>
            </a:r>
            <a:r>
              <a:rPr dirty="0" sz="2300" spc="-160">
                <a:latin typeface="Arial Black"/>
                <a:cs typeface="Arial Black"/>
              </a:rPr>
              <a:t> </a:t>
            </a:r>
            <a:r>
              <a:rPr dirty="0" sz="2300" spc="-20">
                <a:latin typeface="Arial Black"/>
                <a:cs typeface="Arial Black"/>
              </a:rPr>
              <a:t>2026</a:t>
            </a:r>
            <a:endParaRPr sz="23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dirty="0" sz="2300">
                <a:latin typeface="Arial MT"/>
                <a:cs typeface="Arial MT"/>
              </a:rPr>
              <a:t>Fundação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Escola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 spc="60">
                <a:latin typeface="Arial MT"/>
                <a:cs typeface="Arial MT"/>
              </a:rPr>
              <a:t>de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45">
                <a:latin typeface="Arial MT"/>
                <a:cs typeface="Arial MT"/>
              </a:rPr>
              <a:t>Comércio</a:t>
            </a:r>
            <a:r>
              <a:rPr dirty="0" sz="2300">
                <a:latin typeface="Arial MT"/>
                <a:cs typeface="Arial MT"/>
              </a:rPr>
              <a:t> Álvares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45">
                <a:latin typeface="Arial MT"/>
                <a:cs typeface="Arial MT"/>
              </a:rPr>
              <a:t>Penteado</a:t>
            </a:r>
            <a:r>
              <a:rPr dirty="0" sz="2300" spc="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- </a:t>
            </a:r>
            <a:r>
              <a:rPr dirty="0" sz="2300" spc="-90">
                <a:latin typeface="Arial MT"/>
                <a:cs typeface="Arial MT"/>
              </a:rPr>
              <a:t>FECAP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284934" y="5449888"/>
            <a:ext cx="5570855" cy="219392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2000"/>
              </a:lnSpc>
              <a:spcBef>
                <a:spcPts val="85"/>
              </a:spcBef>
            </a:pPr>
            <a:r>
              <a:rPr dirty="0" sz="1550" spc="45">
                <a:latin typeface="Arial MT"/>
                <a:cs typeface="Arial MT"/>
              </a:rPr>
              <a:t>Estudando</a:t>
            </a:r>
            <a:r>
              <a:rPr dirty="0" sz="1550" spc="220">
                <a:latin typeface="Arial MT"/>
                <a:cs typeface="Arial MT"/>
              </a:rPr>
              <a:t>  </a:t>
            </a:r>
            <a:r>
              <a:rPr dirty="0" sz="1550" spc="85">
                <a:latin typeface="Arial MT"/>
                <a:cs typeface="Arial MT"/>
              </a:rPr>
              <a:t>o</a:t>
            </a:r>
            <a:r>
              <a:rPr dirty="0" sz="1550" spc="22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mercado,</a:t>
            </a:r>
            <a:r>
              <a:rPr dirty="0" sz="1550" spc="220">
                <a:latin typeface="Arial MT"/>
                <a:cs typeface="Arial MT"/>
              </a:rPr>
              <a:t>  </a:t>
            </a:r>
            <a:r>
              <a:rPr dirty="0" sz="1550" spc="50">
                <a:latin typeface="Arial MT"/>
                <a:cs typeface="Arial MT"/>
              </a:rPr>
              <a:t>consideramos</a:t>
            </a:r>
            <a:r>
              <a:rPr dirty="0" sz="1550" spc="22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diversos</a:t>
            </a:r>
            <a:r>
              <a:rPr dirty="0" sz="1550" spc="220">
                <a:latin typeface="Arial MT"/>
                <a:cs typeface="Arial MT"/>
              </a:rPr>
              <a:t>  </a:t>
            </a:r>
            <a:r>
              <a:rPr dirty="0" sz="1550" spc="65">
                <a:latin typeface="Arial MT"/>
                <a:cs typeface="Arial MT"/>
              </a:rPr>
              <a:t>pontos </a:t>
            </a:r>
            <a:r>
              <a:rPr dirty="0" sz="1550" spc="70">
                <a:latin typeface="Arial MT"/>
                <a:cs typeface="Arial MT"/>
              </a:rPr>
              <a:t>como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 spc="100">
                <a:latin typeface="Arial MT"/>
                <a:cs typeface="Arial MT"/>
              </a:rPr>
              <a:t>número</a:t>
            </a:r>
            <a:r>
              <a:rPr dirty="0" sz="1550" spc="7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 spc="45">
                <a:latin typeface="Arial MT"/>
                <a:cs typeface="Arial MT"/>
              </a:rPr>
              <a:t>domicílios</a:t>
            </a:r>
            <a:r>
              <a:rPr dirty="0" sz="1550" spc="75">
                <a:latin typeface="Arial MT"/>
                <a:cs typeface="Arial MT"/>
              </a:rPr>
              <a:t>  </a:t>
            </a:r>
            <a:r>
              <a:rPr dirty="0" sz="1550" spc="90">
                <a:latin typeface="Arial MT"/>
                <a:cs typeface="Arial MT"/>
              </a:rPr>
              <a:t>no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Brasil</a:t>
            </a:r>
            <a:r>
              <a:rPr dirty="0" sz="1550" spc="70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 spc="50">
                <a:latin typeface="Arial MT"/>
                <a:cs typeface="Arial MT"/>
              </a:rPr>
              <a:t>possuem </a:t>
            </a:r>
            <a:r>
              <a:rPr dirty="0" sz="1550">
                <a:latin typeface="Arial MT"/>
                <a:cs typeface="Arial MT"/>
              </a:rPr>
              <a:t>animais,</a:t>
            </a:r>
            <a:r>
              <a:rPr dirty="0" sz="1550" spc="55">
                <a:latin typeface="Arial MT"/>
                <a:cs typeface="Arial MT"/>
              </a:rPr>
              <a:t>  </a:t>
            </a:r>
            <a:r>
              <a:rPr dirty="0" sz="1550" spc="60">
                <a:latin typeface="Arial MT"/>
                <a:cs typeface="Arial MT"/>
              </a:rPr>
              <a:t>percentual</a:t>
            </a:r>
            <a:r>
              <a:rPr dirty="0" sz="1550" spc="55">
                <a:latin typeface="Arial MT"/>
                <a:cs typeface="Arial MT"/>
              </a:rPr>
              <a:t>  de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tutores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 spc="70">
                <a:latin typeface="Arial MT"/>
                <a:cs typeface="Arial MT"/>
              </a:rPr>
              <a:t>com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perfil</a:t>
            </a:r>
            <a:r>
              <a:rPr dirty="0" sz="1550" spc="55">
                <a:latin typeface="Arial MT"/>
                <a:cs typeface="Arial MT"/>
              </a:rPr>
              <a:t>  </a:t>
            </a:r>
            <a:r>
              <a:rPr dirty="0" sz="1550" spc="50">
                <a:latin typeface="Arial MT"/>
                <a:cs typeface="Arial MT"/>
              </a:rPr>
              <a:t>compatível</a:t>
            </a:r>
            <a:r>
              <a:rPr dirty="0" sz="1550" spc="55">
                <a:latin typeface="Arial MT"/>
                <a:cs typeface="Arial MT"/>
              </a:rPr>
              <a:t>  </a:t>
            </a:r>
            <a:r>
              <a:rPr dirty="0" sz="1550" spc="-50">
                <a:latin typeface="Arial MT"/>
                <a:cs typeface="Arial MT"/>
              </a:rPr>
              <a:t>a </a:t>
            </a:r>
            <a:r>
              <a:rPr dirty="0" sz="1550">
                <a:latin typeface="Arial MT"/>
                <a:cs typeface="Arial MT"/>
              </a:rPr>
              <a:t>nossa</a:t>
            </a:r>
            <a:r>
              <a:rPr dirty="0" sz="1550" spc="195">
                <a:latin typeface="Arial MT"/>
                <a:cs typeface="Arial MT"/>
              </a:rPr>
              <a:t>   </a:t>
            </a:r>
            <a:r>
              <a:rPr dirty="0" sz="1550">
                <a:latin typeface="Arial MT"/>
                <a:cs typeface="Arial MT"/>
              </a:rPr>
              <a:t>solução,</a:t>
            </a:r>
            <a:r>
              <a:rPr dirty="0" sz="1550" spc="204">
                <a:latin typeface="Arial MT"/>
                <a:cs typeface="Arial MT"/>
              </a:rPr>
              <a:t>   </a:t>
            </a:r>
            <a:r>
              <a:rPr dirty="0" sz="1550" spc="60">
                <a:latin typeface="Arial MT"/>
                <a:cs typeface="Arial MT"/>
              </a:rPr>
              <a:t>público</a:t>
            </a:r>
            <a:r>
              <a:rPr dirty="0" sz="1550" spc="204">
                <a:latin typeface="Arial MT"/>
                <a:cs typeface="Arial MT"/>
              </a:rPr>
              <a:t>   </a:t>
            </a:r>
            <a:r>
              <a:rPr dirty="0" sz="1550" spc="55">
                <a:latin typeface="Arial MT"/>
                <a:cs typeface="Arial MT"/>
              </a:rPr>
              <a:t>potencial</a:t>
            </a:r>
            <a:r>
              <a:rPr dirty="0" sz="1550" spc="195">
                <a:latin typeface="Arial MT"/>
                <a:cs typeface="Arial MT"/>
              </a:rPr>
              <a:t>  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204">
                <a:latin typeface="Arial MT"/>
                <a:cs typeface="Arial MT"/>
              </a:rPr>
              <a:t>   </a:t>
            </a:r>
            <a:r>
              <a:rPr dirty="0" sz="1550" spc="75">
                <a:latin typeface="Arial MT"/>
                <a:cs typeface="Arial MT"/>
              </a:rPr>
              <a:t>entre</a:t>
            </a:r>
            <a:r>
              <a:rPr dirty="0" sz="1550" spc="204">
                <a:latin typeface="Arial MT"/>
                <a:cs typeface="Arial MT"/>
              </a:rPr>
              <a:t>   </a:t>
            </a:r>
            <a:r>
              <a:rPr dirty="0" sz="1550" spc="60">
                <a:latin typeface="Arial MT"/>
                <a:cs typeface="Arial MT"/>
              </a:rPr>
              <a:t>outros. </a:t>
            </a:r>
            <a:r>
              <a:rPr dirty="0" sz="1550" spc="45">
                <a:latin typeface="Arial MT"/>
                <a:cs typeface="Arial MT"/>
              </a:rPr>
              <a:t>Estimando</a:t>
            </a:r>
            <a:r>
              <a:rPr dirty="0" sz="1550" spc="254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mercado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pet</a:t>
            </a:r>
            <a:r>
              <a:rPr dirty="0" sz="1550" spc="250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no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Brasil</a:t>
            </a:r>
            <a:r>
              <a:rPr dirty="0" sz="1550" spc="250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faturou</a:t>
            </a:r>
            <a:r>
              <a:rPr dirty="0" sz="1550" spc="2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cerca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 spc="40">
                <a:latin typeface="Arial MT"/>
                <a:cs typeface="Arial MT"/>
              </a:rPr>
              <a:t>de </a:t>
            </a:r>
            <a:r>
              <a:rPr dirty="0" sz="1550" spc="-114">
                <a:latin typeface="Arial Black"/>
                <a:cs typeface="Arial Black"/>
              </a:rPr>
              <a:t>R$76,3</a:t>
            </a:r>
            <a:r>
              <a:rPr dirty="0" sz="1550" spc="85">
                <a:latin typeface="Arial Black"/>
                <a:cs typeface="Arial Black"/>
              </a:rPr>
              <a:t> </a:t>
            </a:r>
            <a:r>
              <a:rPr dirty="0" sz="1550" spc="-45">
                <a:latin typeface="Arial Black"/>
                <a:cs typeface="Arial Black"/>
              </a:rPr>
              <a:t>bilhões</a:t>
            </a:r>
            <a:r>
              <a:rPr dirty="0" sz="1550" spc="95">
                <a:latin typeface="Arial Black"/>
                <a:cs typeface="Arial Black"/>
              </a:rPr>
              <a:t> </a:t>
            </a:r>
            <a:r>
              <a:rPr dirty="0" sz="1550" spc="95">
                <a:latin typeface="Arial MT"/>
                <a:cs typeface="Arial MT"/>
              </a:rPr>
              <a:t>em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2024,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sendo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 spc="65">
                <a:latin typeface="Arial MT"/>
                <a:cs typeface="Arial MT"/>
              </a:rPr>
              <a:t>terceiro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 spc="85">
                <a:latin typeface="Arial MT"/>
                <a:cs typeface="Arial MT"/>
              </a:rPr>
              <a:t>maior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país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 spc="85">
                <a:latin typeface="Arial MT"/>
                <a:cs typeface="Arial MT"/>
              </a:rPr>
              <a:t>em </a:t>
            </a:r>
            <a:r>
              <a:rPr dirty="0" sz="1550" spc="55">
                <a:latin typeface="Arial MT"/>
                <a:cs typeface="Arial MT"/>
              </a:rPr>
              <a:t>população</a:t>
            </a:r>
            <a:r>
              <a:rPr dirty="0" sz="1550" spc="11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105">
                <a:latin typeface="Arial MT"/>
                <a:cs typeface="Arial MT"/>
              </a:rPr>
              <a:t>  </a:t>
            </a:r>
            <a:r>
              <a:rPr dirty="0" sz="1550" spc="50">
                <a:latin typeface="Arial MT"/>
                <a:cs typeface="Arial MT"/>
              </a:rPr>
              <a:t>pets</a:t>
            </a:r>
            <a:r>
              <a:rPr dirty="0" sz="1550" spc="114">
                <a:latin typeface="Arial MT"/>
                <a:cs typeface="Arial MT"/>
              </a:rPr>
              <a:t>  </a:t>
            </a:r>
            <a:r>
              <a:rPr dirty="0" sz="1550" spc="90">
                <a:latin typeface="Arial MT"/>
                <a:cs typeface="Arial MT"/>
              </a:rPr>
              <a:t>no</a:t>
            </a:r>
            <a:r>
              <a:rPr dirty="0" sz="1550" spc="110">
                <a:latin typeface="Arial MT"/>
                <a:cs typeface="Arial MT"/>
              </a:rPr>
              <a:t>  </a:t>
            </a:r>
            <a:r>
              <a:rPr dirty="0" sz="1550" spc="85">
                <a:latin typeface="Arial MT"/>
                <a:cs typeface="Arial MT"/>
              </a:rPr>
              <a:t>mundo,</a:t>
            </a:r>
            <a:r>
              <a:rPr dirty="0" sz="1550" spc="105">
                <a:latin typeface="Arial MT"/>
                <a:cs typeface="Arial MT"/>
              </a:rPr>
              <a:t>  </a:t>
            </a:r>
            <a:r>
              <a:rPr dirty="0" sz="1550" spc="60">
                <a:latin typeface="Arial MT"/>
                <a:cs typeface="Arial MT"/>
              </a:rPr>
              <a:t>identificamos</a:t>
            </a:r>
            <a:r>
              <a:rPr dirty="0" sz="1550" spc="110">
                <a:latin typeface="Arial MT"/>
                <a:cs typeface="Arial MT"/>
              </a:rPr>
              <a:t>  </a:t>
            </a:r>
            <a:r>
              <a:rPr dirty="0" sz="1550" spc="130">
                <a:latin typeface="Arial MT"/>
                <a:cs typeface="Arial MT"/>
              </a:rPr>
              <a:t>um</a:t>
            </a:r>
            <a:r>
              <a:rPr dirty="0" sz="1550" spc="105">
                <a:latin typeface="Arial MT"/>
                <a:cs typeface="Arial MT"/>
              </a:rPr>
              <a:t>  </a:t>
            </a:r>
            <a:r>
              <a:rPr dirty="0" sz="1550" spc="-25">
                <a:latin typeface="Arial MT"/>
                <a:cs typeface="Arial MT"/>
              </a:rPr>
              <a:t>TAM </a:t>
            </a:r>
            <a:r>
              <a:rPr dirty="0" sz="1550" spc="50">
                <a:latin typeface="Arial MT"/>
                <a:cs typeface="Arial MT"/>
              </a:rPr>
              <a:t>(Mercado</a:t>
            </a:r>
            <a:r>
              <a:rPr dirty="0" sz="1550" spc="3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Total</a:t>
            </a:r>
            <a:r>
              <a:rPr dirty="0" sz="1550" spc="3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Endereçável)</a:t>
            </a:r>
            <a:r>
              <a:rPr dirty="0" sz="1550" spc="36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3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R$</a:t>
            </a:r>
            <a:r>
              <a:rPr dirty="0" sz="1550" spc="3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9</a:t>
            </a:r>
            <a:r>
              <a:rPr dirty="0" sz="1550" spc="3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bilhões,</a:t>
            </a:r>
            <a:r>
              <a:rPr dirty="0" sz="1550" spc="37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focado</a:t>
            </a:r>
            <a:r>
              <a:rPr dirty="0" sz="1550" spc="375">
                <a:latin typeface="Arial MT"/>
                <a:cs typeface="Arial MT"/>
              </a:rPr>
              <a:t> </a:t>
            </a:r>
            <a:r>
              <a:rPr dirty="0" sz="1550" spc="85">
                <a:latin typeface="Arial MT"/>
                <a:cs typeface="Arial MT"/>
              </a:rPr>
              <a:t>em </a:t>
            </a:r>
            <a:r>
              <a:rPr dirty="0" sz="1550" spc="80">
                <a:latin typeface="Arial MT"/>
                <a:cs typeface="Arial MT"/>
              </a:rPr>
              <a:t>tutores</a:t>
            </a:r>
            <a:r>
              <a:rPr dirty="0" sz="1550" spc="400">
                <a:latin typeface="Arial MT"/>
                <a:cs typeface="Arial MT"/>
              </a:rPr>
              <a:t> 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39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classe</a:t>
            </a:r>
            <a:r>
              <a:rPr dirty="0" sz="1550" spc="385">
                <a:latin typeface="Arial MT"/>
                <a:cs typeface="Arial MT"/>
              </a:rPr>
              <a:t>  </a:t>
            </a:r>
            <a:r>
              <a:rPr dirty="0" sz="1550" spc="65">
                <a:latin typeface="Arial MT"/>
                <a:cs typeface="Arial MT"/>
              </a:rPr>
              <a:t>média</a:t>
            </a:r>
            <a:r>
              <a:rPr dirty="0" sz="1550" spc="39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39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alta</a:t>
            </a:r>
            <a:r>
              <a:rPr dirty="0" sz="1550" spc="390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39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já</a:t>
            </a:r>
            <a:r>
              <a:rPr dirty="0" sz="1550" spc="385">
                <a:latin typeface="Arial MT"/>
                <a:cs typeface="Arial MT"/>
              </a:rPr>
              <a:t>  </a:t>
            </a:r>
            <a:r>
              <a:rPr dirty="0" sz="1550" spc="45">
                <a:latin typeface="Arial MT"/>
                <a:cs typeface="Arial MT"/>
              </a:rPr>
              <a:t>investem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284934" y="7617935"/>
            <a:ext cx="4643755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50">
                <a:latin typeface="Arial MT"/>
                <a:cs typeface="Arial MT"/>
              </a:rPr>
              <a:t>significativamente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no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bem-</a:t>
            </a:r>
            <a:r>
              <a:rPr dirty="0" sz="1550">
                <a:latin typeface="Arial MT"/>
                <a:cs typeface="Arial MT"/>
              </a:rPr>
              <a:t>estar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seus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35">
                <a:latin typeface="Arial MT"/>
                <a:cs typeface="Arial MT"/>
              </a:rPr>
              <a:t>animais.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288952" y="11763178"/>
            <a:ext cx="5513070" cy="9880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5"/>
              </a:spcBef>
            </a:pP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55">
                <a:latin typeface="Arial MT"/>
                <a:cs typeface="Arial MT"/>
              </a:rPr>
              <a:t> tendência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 crescimento </a:t>
            </a:r>
            <a:r>
              <a:rPr dirty="0" sz="1550" spc="90">
                <a:latin typeface="Arial MT"/>
                <a:cs typeface="Arial MT"/>
              </a:rPr>
              <a:t>do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setor,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aliada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ao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80">
                <a:latin typeface="Arial MT"/>
                <a:cs typeface="Arial MT"/>
              </a:rPr>
              <a:t>aumento </a:t>
            </a:r>
            <a:r>
              <a:rPr dirty="0" sz="1550" spc="55">
                <a:latin typeface="Arial MT"/>
                <a:cs typeface="Arial MT"/>
              </a:rPr>
              <a:t>da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adoção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animais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busca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 spc="100">
                <a:latin typeface="Arial MT"/>
                <a:cs typeface="Arial MT"/>
              </a:rPr>
              <a:t>por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soluções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tecnológicas, </a:t>
            </a:r>
            <a:r>
              <a:rPr dirty="0" sz="1550">
                <a:latin typeface="Arial MT"/>
                <a:cs typeface="Arial MT"/>
              </a:rPr>
              <a:t>valida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cenário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favorável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 spc="65">
                <a:latin typeface="Arial MT"/>
                <a:cs typeface="Arial MT"/>
              </a:rPr>
              <a:t>para</a:t>
            </a:r>
            <a:r>
              <a:rPr dirty="0" sz="1550" spc="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inserção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do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 spc="-10">
                <a:latin typeface="Arial Black"/>
                <a:cs typeface="Arial Black"/>
              </a:rPr>
              <a:t>PetButler </a:t>
            </a:r>
            <a:r>
              <a:rPr dirty="0" sz="1550" spc="75">
                <a:latin typeface="Arial MT"/>
                <a:cs typeface="Arial MT"/>
              </a:rPr>
              <a:t>como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uma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solução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 spc="60">
                <a:latin typeface="Arial MT"/>
                <a:cs typeface="Arial MT"/>
              </a:rPr>
              <a:t>inovadora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 spc="40">
                <a:latin typeface="Arial MT"/>
                <a:cs typeface="Arial MT"/>
              </a:rPr>
              <a:t>rentável.</a:t>
            </a:r>
            <a:endParaRPr sz="1550">
              <a:latin typeface="Arial MT"/>
              <a:cs typeface="Arial MT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19370" y="8181695"/>
            <a:ext cx="5371730" cy="2929631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7390714" y="11214010"/>
            <a:ext cx="5298440" cy="2819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800" spc="-20">
                <a:latin typeface="Arial MT"/>
                <a:cs typeface="Arial MT"/>
              </a:rPr>
              <a:t>FONTE:</a:t>
            </a:r>
            <a:r>
              <a:rPr dirty="0" sz="800" spc="470">
                <a:latin typeface="Arial MT"/>
                <a:cs typeface="Arial MT"/>
              </a:rPr>
              <a:t>     </a:t>
            </a:r>
            <a:r>
              <a:rPr dirty="0" sz="800">
                <a:latin typeface="Arial MT"/>
                <a:cs typeface="Arial MT"/>
              </a:rPr>
              <a:t>https://</a:t>
            </a:r>
            <a:r>
              <a:rPr dirty="0" sz="800">
                <a:latin typeface="Arial MT"/>
                <a:cs typeface="Arial MT"/>
                <a:hlinkClick r:id="rId4"/>
              </a:rPr>
              <a:t>www.gov.br/agricultura/pt-br/assuntos/camaras-setoriais-</a:t>
            </a:r>
            <a:r>
              <a:rPr dirty="0" sz="800" spc="-10">
                <a:latin typeface="Arial MT"/>
                <a:cs typeface="Arial MT"/>
                <a:hlinkClick r:id="rId4"/>
              </a:rPr>
              <a:t>tematicas/documentos/camaras-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800">
                <a:latin typeface="Arial MT"/>
                <a:cs typeface="Arial MT"/>
              </a:rPr>
              <a:t>setoriais/animais-e-estimacao/2025/43a-ro-15-07-2025/release-projecao1tri25-setor-</a:t>
            </a:r>
            <a:r>
              <a:rPr dirty="0" sz="800" spc="-10">
                <a:latin typeface="Arial MT"/>
                <a:cs typeface="Arial MT"/>
              </a:rPr>
              <a:t>pet.pdf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2026-05-04T13:26:18Z</dcterms:created>
  <dcterms:modified xsi:type="dcterms:W3CDTF">2026-05-04T13:26:18Z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2026-05-04T00:00:00Z</vt:filetime>
  </property>
  <property fmtid="{D5CDD505-2E9C-101B-9397-08002B2CF9AE}" pid="3" name="LastSaved">
    <vt:filetime>2026-05-04T00:00:00Z</vt:filetime>
  </property>
</Properties>
</file>